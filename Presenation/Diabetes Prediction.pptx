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oppins Semi-Bold" charset="1" panose="00000700000000000000"/>
      <p:regular r:id="rId27"/>
    </p:embeddedFont>
    <p:embeddedFont>
      <p:font typeface="Poppins" charset="1" panose="00000500000000000000"/>
      <p:regular r:id="rId28"/>
    </p:embeddedFont>
    <p:embeddedFont>
      <p:font typeface="Poppins Bold" charset="1" panose="00000800000000000000"/>
      <p:regular r:id="rId29"/>
    </p:embeddedFont>
    <p:embeddedFont>
      <p:font typeface="IBM Plex Mono" charset="1" panose="020B0509050203000203"/>
      <p:regular r:id="rId30"/>
    </p:embeddedFont>
    <p:embeddedFont>
      <p:font typeface="Arial" charset="1" panose="020B0604020202020204"/>
      <p:regular r:id="rId31"/>
    </p:embeddedFont>
    <p:embeddedFont>
      <p:font typeface="Arial Bold" charset="1" panose="020B07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899" y="3427193"/>
            <a:ext cx="11255793" cy="107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5"/>
              </a:lnSpc>
            </a:pPr>
            <a:r>
              <a:rPr lang="en-US" b="true" sz="8524" spc="-426">
                <a:solidFill>
                  <a:srgbClr val="428D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b="true" sz="8524" spc="-426">
                <a:solidFill>
                  <a:srgbClr val="428D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DIABETES PREDICTION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458185"/>
            <a:ext cx="4418109" cy="584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799">
                <a:solidFill>
                  <a:srgbClr val="281D57"/>
                </a:solidFill>
                <a:latin typeface="Poppins"/>
                <a:ea typeface="Poppins"/>
                <a:cs typeface="Poppins"/>
                <a:sym typeface="Poppins"/>
              </a:rPr>
              <a:t>Presented By Group 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97573"/>
            <a:ext cx="9659394" cy="2610495"/>
          </a:xfrm>
          <a:custGeom>
            <a:avLst/>
            <a:gdLst/>
            <a:ahLst/>
            <a:cxnLst/>
            <a:rect r="r" b="b" t="t" l="l"/>
            <a:pathLst>
              <a:path h="2610495" w="9659394">
                <a:moveTo>
                  <a:pt x="0" y="0"/>
                </a:moveTo>
                <a:lnTo>
                  <a:pt x="9659394" y="0"/>
                </a:lnTo>
                <a:lnTo>
                  <a:pt x="9659394" y="2610495"/>
                </a:lnTo>
                <a:lnTo>
                  <a:pt x="0" y="2610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0" r="-275" b="-14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780269"/>
            <a:ext cx="6252389" cy="142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7"/>
              </a:lnSpc>
            </a:pPr>
            <a:r>
              <a:rPr lang="en-US" sz="3616" b="true">
                <a:solidFill>
                  <a:srgbClr val="281D57"/>
                </a:solidFill>
                <a:latin typeface="Poppins Bold"/>
                <a:ea typeface="Poppins Bold"/>
                <a:cs typeface="Poppins Bold"/>
                <a:sym typeface="Poppins Bold"/>
              </a:rPr>
              <a:t>Class : Machine Learning</a:t>
            </a:r>
          </a:p>
          <a:p>
            <a:pPr algn="l">
              <a:lnSpc>
                <a:spcPts val="5677"/>
              </a:lnSpc>
            </a:pPr>
            <a:r>
              <a:rPr lang="en-US" sz="3616" b="true">
                <a:solidFill>
                  <a:srgbClr val="281D57"/>
                </a:solidFill>
                <a:latin typeface="Poppins Bold"/>
                <a:ea typeface="Poppins Bold"/>
                <a:cs typeface="Poppins Bold"/>
                <a:sym typeface="Poppins Bold"/>
              </a:rPr>
              <a:t>Lecturer : Him Soklong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294242" y="4620265"/>
            <a:ext cx="4469100" cy="4637745"/>
          </a:xfrm>
          <a:custGeom>
            <a:avLst/>
            <a:gdLst/>
            <a:ahLst/>
            <a:cxnLst/>
            <a:rect r="r" b="b" t="t" l="l"/>
            <a:pathLst>
              <a:path h="4637745" w="4469100">
                <a:moveTo>
                  <a:pt x="0" y="0"/>
                </a:moveTo>
                <a:lnTo>
                  <a:pt x="4469100" y="0"/>
                </a:lnTo>
                <a:lnTo>
                  <a:pt x="4469100" y="4637745"/>
                </a:lnTo>
                <a:lnTo>
                  <a:pt x="0" y="463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237256"/>
            <a:ext cx="4418109" cy="178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759"/>
              </a:lnSpc>
              <a:buFont typeface="Arial"/>
              <a:buChar char="•"/>
            </a:pPr>
            <a:r>
              <a:rPr lang="en-US" sz="2799">
                <a:solidFill>
                  <a:srgbClr val="281D57"/>
                </a:solidFill>
                <a:latin typeface="Poppins"/>
                <a:ea typeface="Poppins"/>
                <a:cs typeface="Poppins"/>
                <a:sym typeface="Poppins"/>
              </a:rPr>
              <a:t>Ly Seavmey</a:t>
            </a:r>
          </a:p>
          <a:p>
            <a:pPr algn="l" marL="604519" indent="-302260" lvl="1">
              <a:lnSpc>
                <a:spcPts val="4759"/>
              </a:lnSpc>
              <a:buFont typeface="Arial"/>
              <a:buChar char="•"/>
            </a:pPr>
            <a:r>
              <a:rPr lang="en-US" sz="2799">
                <a:solidFill>
                  <a:srgbClr val="281D57"/>
                </a:solidFill>
                <a:latin typeface="Poppins"/>
                <a:ea typeface="Poppins"/>
                <a:cs typeface="Poppins"/>
                <a:sym typeface="Poppins"/>
              </a:rPr>
              <a:t>Chamroeun Vichita 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1150" y="1104900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90675" y="2067916"/>
            <a:ext cx="12518577" cy="601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5"/>
              </a:lnSpc>
            </a:pPr>
            <a:r>
              <a:rPr lang="en-US" sz="4599">
                <a:solidFill>
                  <a:srgbClr val="1F191A"/>
                </a:solidFill>
                <a:latin typeface="IBM Plex Mono"/>
                <a:ea typeface="IBM Plex Mono"/>
                <a:cs typeface="IBM Plex Mono"/>
                <a:sym typeface="IBM Plex Mono"/>
              </a:rPr>
              <a:t>1.Introduction</a:t>
            </a:r>
          </a:p>
          <a:p>
            <a:pPr algn="l">
              <a:lnSpc>
                <a:spcPts val="9705"/>
              </a:lnSpc>
            </a:pPr>
            <a:r>
              <a:rPr lang="en-US" sz="4599">
                <a:solidFill>
                  <a:srgbClr val="1F191A"/>
                </a:solidFill>
                <a:latin typeface="IBM Plex Mono"/>
                <a:ea typeface="IBM Plex Mono"/>
                <a:cs typeface="IBM Plex Mono"/>
                <a:sym typeface="IBM Plex Mono"/>
              </a:rPr>
              <a:t>2.Data Insights</a:t>
            </a:r>
          </a:p>
          <a:p>
            <a:pPr algn="l">
              <a:lnSpc>
                <a:spcPts val="9705"/>
              </a:lnSpc>
            </a:pPr>
            <a:r>
              <a:rPr lang="en-US" sz="4599">
                <a:solidFill>
                  <a:srgbClr val="1F191A"/>
                </a:solidFill>
                <a:latin typeface="IBM Plex Mono"/>
                <a:ea typeface="IBM Plex Mono"/>
                <a:cs typeface="IBM Plex Mono"/>
                <a:sym typeface="IBM Plex Mono"/>
              </a:rPr>
              <a:t>3.Methodology</a:t>
            </a:r>
          </a:p>
          <a:p>
            <a:pPr algn="l">
              <a:lnSpc>
                <a:spcPts val="9705"/>
              </a:lnSpc>
            </a:pPr>
            <a:r>
              <a:rPr lang="en-US" sz="4599">
                <a:solidFill>
                  <a:srgbClr val="1F191A"/>
                </a:solidFill>
                <a:latin typeface="IBM Plex Mono"/>
                <a:ea typeface="IBM Plex Mono"/>
                <a:cs typeface="IBM Plex Mono"/>
                <a:sym typeface="IBM Plex Mono"/>
              </a:rPr>
              <a:t>4.Comparative Analysis</a:t>
            </a:r>
          </a:p>
          <a:p>
            <a:pPr algn="l">
              <a:lnSpc>
                <a:spcPts val="9705"/>
              </a:lnSpc>
            </a:pPr>
            <a:r>
              <a:rPr lang="en-US" sz="4599">
                <a:solidFill>
                  <a:srgbClr val="1F191A"/>
                </a:solidFill>
                <a:latin typeface="IBM Plex Mono"/>
                <a:ea typeface="IBM Plex Mono"/>
                <a:cs typeface="IBM Plex Mono"/>
                <a:sym typeface="IBM Plex Mono"/>
              </a:rPr>
              <a:t>5.Conclusion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1.INTRODUCTION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5544" y="2291500"/>
            <a:ext cx="15271181" cy="67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6751"/>
              </a:lnSpc>
              <a:buFont typeface="Arial"/>
              <a:buChar char="•"/>
            </a:pPr>
            <a:r>
              <a:rPr lang="en-US" sz="31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Diabetes is one of the most common chronic diseases worldwide. Early prediction can help doctors diagnose patients earlier and improve treatment outcomes.</a:t>
            </a:r>
          </a:p>
          <a:p>
            <a:pPr algn="l" marL="690872" indent="-345436" lvl="1">
              <a:lnSpc>
                <a:spcPts val="6751"/>
              </a:lnSpc>
              <a:buFont typeface="Arial"/>
              <a:buChar char="•"/>
            </a:pPr>
            <a:r>
              <a:rPr lang="en-US" sz="31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The objective of this project is to build machine learning models that predict whether a patient has diabetes based on medical information and compare the performance of Logistic Regression and Random Forest.</a:t>
            </a:r>
          </a:p>
          <a:p>
            <a:pPr algn="l" marL="690872" indent="-345436" lvl="1">
              <a:lnSpc>
                <a:spcPts val="6751"/>
              </a:lnSpc>
              <a:buFont typeface="Arial"/>
              <a:buChar char="•"/>
            </a:pPr>
            <a:r>
              <a:rPr lang="en-US" sz="31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Problem Type: </a:t>
            </a:r>
            <a:r>
              <a:rPr lang="en-US" b="true" sz="3199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1.INTRODUCTION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5800" y="1691164"/>
            <a:ext cx="16573500" cy="859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928" indent="-351464" lvl="1">
              <a:lnSpc>
                <a:spcPts val="6869"/>
              </a:lnSpc>
              <a:buFont typeface="Arial"/>
              <a:buChar char="•"/>
            </a:pPr>
            <a:r>
              <a:rPr lang="en-US" b="true" sz="3255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Description:</a:t>
            </a:r>
          </a:p>
          <a:p>
            <a:pPr algn="l" marL="702928" indent="-351464" lvl="1">
              <a:lnSpc>
                <a:spcPts val="6869"/>
              </a:lnSpc>
              <a:buFont typeface="Arial"/>
              <a:buChar char="•"/>
            </a:pPr>
            <a:r>
              <a:rPr lang="en-US" b="true" sz="3255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Source: 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Kaggle </a:t>
            </a:r>
          </a:p>
          <a:p>
            <a:pPr algn="l" marL="702928" indent="-351464" lvl="1">
              <a:lnSpc>
                <a:spcPts val="6869"/>
              </a:lnSpc>
              <a:buFont typeface="Arial"/>
              <a:buChar char="•"/>
            </a:pPr>
            <a:r>
              <a:rPr lang="en-US" b="true" sz="3255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 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Diabetes Prediction Dataset</a:t>
            </a:r>
          </a:p>
          <a:p>
            <a:pPr algn="l">
              <a:lnSpc>
                <a:spcPts val="6869"/>
              </a:lnSpc>
            </a:pPr>
            <a:r>
              <a:rPr lang="en-US" sz="3255" b="true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Target Variable (CLASS):</a:t>
            </a:r>
          </a:p>
          <a:p>
            <a:pPr algn="l">
              <a:lnSpc>
                <a:spcPts val="6869"/>
              </a:lnSpc>
            </a:pP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0 = Non-Diabetic</a:t>
            </a:r>
          </a:p>
          <a:p>
            <a:pPr algn="l">
              <a:lnSpc>
                <a:spcPts val="6869"/>
              </a:lnSpc>
            </a:pP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1 = Prediabetic</a:t>
            </a:r>
          </a:p>
          <a:p>
            <a:pPr algn="l">
              <a:lnSpc>
                <a:spcPts val="6869"/>
              </a:lnSpc>
            </a:pP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2 = Diabetic </a:t>
            </a:r>
          </a:p>
          <a:p>
            <a:pPr algn="l" marL="702928" indent="-351464" lvl="1">
              <a:lnSpc>
                <a:spcPts val="6869"/>
              </a:lnSpc>
              <a:buFont typeface="Arial"/>
              <a:buChar char="•"/>
            </a:pPr>
            <a:r>
              <a:rPr lang="en-US" b="true" sz="3255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Features:</a:t>
            </a:r>
            <a:r>
              <a:rPr lang="en-US" sz="3255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 HbA1c, BMI, AGE, Glucose, Urea, Cr (Creatinine), Chol, TG, HDL, LDL, VLDL, Gender.</a:t>
            </a:r>
          </a:p>
          <a:p>
            <a:pPr algn="l">
              <a:lnSpc>
                <a:spcPts val="686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2.DATA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82001" y="1916401"/>
            <a:ext cx="15271181" cy="94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7"/>
              </a:lnSpc>
            </a:pPr>
            <a:r>
              <a:rPr lang="en-US" sz="3799" b="true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82001" y="3341389"/>
          <a:ext cx="13079305" cy="5725785"/>
        </p:xfrm>
        <a:graphic>
          <a:graphicData uri="http://schemas.openxmlformats.org/drawingml/2006/table">
            <a:tbl>
              <a:tblPr/>
              <a:tblGrid>
                <a:gridCol w="2092854"/>
                <a:gridCol w="1734632"/>
                <a:gridCol w="9251819"/>
              </a:tblGrid>
              <a:tr h="1026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Column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1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</a:t>
                      </a:r>
                      <a:endParaRPr lang="en-US" sz="1100"/>
                    </a:p>
                    <a:p>
                      <a:pPr algn="ctr">
                        <a:lnSpc>
                          <a:spcPts val="2227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int64</a:t>
                      </a:r>
                      <a:endParaRPr lang="en-US" sz="1100"/>
                    </a:p>
                    <a:p>
                      <a:pPr algn="ctr">
                        <a:lnSpc>
                          <a:spcPts val="2227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Unique patient identifier</a:t>
                      </a:r>
                      <a:endParaRPr lang="en-US" sz="1100"/>
                    </a:p>
                    <a:p>
                      <a:pPr algn="ctr">
                        <a:lnSpc>
                          <a:spcPts val="2227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No_Pation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Patient number/record 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18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Male or Female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Patient's 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Blood urea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2.DATA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82001" y="1916401"/>
            <a:ext cx="15271181" cy="94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7"/>
              </a:lnSpc>
            </a:pPr>
            <a:r>
              <a:rPr lang="en-US" sz="3799" b="true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82001" y="3341389"/>
          <a:ext cx="13079305" cy="5725785"/>
        </p:xfrm>
        <a:graphic>
          <a:graphicData uri="http://schemas.openxmlformats.org/drawingml/2006/table">
            <a:tbl>
              <a:tblPr/>
              <a:tblGrid>
                <a:gridCol w="2092854"/>
                <a:gridCol w="1734632"/>
                <a:gridCol w="9251819"/>
              </a:tblGrid>
              <a:tr h="1026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Column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1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int64</a:t>
                      </a:r>
                      <a:endParaRPr lang="en-US" sz="1100"/>
                    </a:p>
                    <a:p>
                      <a:pPr algn="ctr">
                        <a:lnSpc>
                          <a:spcPts val="2227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Creatinine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HbA1c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Average blood glucose level over the past 2–3 months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18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Cholesterol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Triglyceride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HDL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High-density lipoprotein ("good" cholesterol)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2.DATA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82001" y="1916401"/>
            <a:ext cx="15271181" cy="94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7"/>
              </a:lnSpc>
            </a:pPr>
            <a:r>
              <a:rPr lang="en-US" sz="3799" b="true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82001" y="3458397"/>
          <a:ext cx="13079305" cy="4892514"/>
        </p:xfrm>
        <a:graphic>
          <a:graphicData uri="http://schemas.openxmlformats.org/drawingml/2006/table">
            <a:tbl>
              <a:tblPr/>
              <a:tblGrid>
                <a:gridCol w="2092854"/>
                <a:gridCol w="1734632"/>
                <a:gridCol w="9251819"/>
              </a:tblGrid>
              <a:tr h="12158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Column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6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LDL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Low-density lipoprotein ("bad" cholesterol)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89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VLDL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Very low-density lipoprotein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28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float64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Body Mass Index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9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27"/>
                        </a:lnSpc>
                        <a:defRPr/>
                      </a:pPr>
                      <a:r>
                        <a:rPr lang="en-US" sz="159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Target variable (Diabetic status)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2200" y="-473017"/>
            <a:ext cx="3086100" cy="11233035"/>
            <a:chOff x="0" y="0"/>
            <a:chExt cx="812800" cy="29584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4242" y="3280892"/>
            <a:ext cx="8199758" cy="6446444"/>
          </a:xfrm>
          <a:custGeom>
            <a:avLst/>
            <a:gdLst/>
            <a:ahLst/>
            <a:cxnLst/>
            <a:rect r="r" b="b" t="t" l="l"/>
            <a:pathLst>
              <a:path h="6446444" w="8199758">
                <a:moveTo>
                  <a:pt x="0" y="0"/>
                </a:moveTo>
                <a:lnTo>
                  <a:pt x="8199758" y="0"/>
                </a:lnTo>
                <a:lnTo>
                  <a:pt x="8199758" y="6446444"/>
                </a:lnTo>
                <a:lnTo>
                  <a:pt x="0" y="6446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0" t="-536" r="-732" b="-5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42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2.DATA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63564" y="4305689"/>
            <a:ext cx="5570389" cy="2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6751"/>
              </a:lnSpc>
              <a:buFont typeface="Arial"/>
              <a:buChar char="•"/>
            </a:pPr>
            <a:r>
              <a:rPr lang="en-US" sz="31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CLass 0 : Non-Diabetic</a:t>
            </a:r>
          </a:p>
          <a:p>
            <a:pPr algn="l" marL="690872" indent="-345436" lvl="1">
              <a:lnSpc>
                <a:spcPts val="6751"/>
              </a:lnSpc>
              <a:buFont typeface="Arial"/>
              <a:buChar char="•"/>
            </a:pPr>
            <a:r>
              <a:rPr lang="en-US" sz="31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Class 1 : Pre-Diabetic</a:t>
            </a:r>
          </a:p>
          <a:p>
            <a:pPr algn="l" marL="690872" indent="-345436" lvl="1">
              <a:lnSpc>
                <a:spcPts val="6751"/>
              </a:lnSpc>
              <a:buFont typeface="Arial"/>
              <a:buChar char="•"/>
            </a:pPr>
            <a:r>
              <a:rPr lang="en-US" sz="31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Class 2 : Diabetic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5466" y="1958186"/>
            <a:ext cx="12646643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09" indent="-410205" lvl="1">
              <a:lnSpc>
                <a:spcPts val="5319"/>
              </a:lnSpc>
              <a:spcBef>
                <a:spcPct val="0"/>
              </a:spcBef>
              <a:buAutoNum type="arabicPeriod" startAt="1"/>
            </a:pPr>
            <a:r>
              <a:rPr lang="en-US" sz="3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How many patients are in each diagnosis Class 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038" y="3280892"/>
            <a:ext cx="8049267" cy="6543571"/>
          </a:xfrm>
          <a:custGeom>
            <a:avLst/>
            <a:gdLst/>
            <a:ahLst/>
            <a:cxnLst/>
            <a:rect r="r" b="b" t="t" l="l"/>
            <a:pathLst>
              <a:path h="6543571" w="8049267">
                <a:moveTo>
                  <a:pt x="0" y="0"/>
                </a:moveTo>
                <a:lnTo>
                  <a:pt x="8049266" y="0"/>
                </a:lnTo>
                <a:lnTo>
                  <a:pt x="8049266" y="6543571"/>
                </a:lnTo>
                <a:lnTo>
                  <a:pt x="0" y="6543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53" t="-7259" r="-708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42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2.DATA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91625" y="2779874"/>
            <a:ext cx="8221902" cy="647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5"/>
              </a:lnSpc>
            </a:pPr>
          </a:p>
          <a:p>
            <a:pPr algn="l" marL="604519" indent="-302260" lvl="1">
              <a:lnSpc>
                <a:spcPts val="6495"/>
              </a:lnSpc>
              <a:buFont typeface="Arial"/>
              <a:buChar char="•"/>
            </a:pPr>
            <a:r>
              <a:rPr lang="en-US" sz="2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Class 0 (Non-Diabetic): between 4.0 and 5.2.</a:t>
            </a:r>
          </a:p>
          <a:p>
            <a:pPr algn="l" marL="604519" indent="-302260" lvl="1">
              <a:lnSpc>
                <a:spcPts val="6495"/>
              </a:lnSpc>
              <a:buFont typeface="Arial"/>
              <a:buChar char="•"/>
            </a:pPr>
            <a:r>
              <a:rPr lang="en-US" sz="2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Class 1 (Prediabetic): around 5.7 to 6.3.</a:t>
            </a:r>
          </a:p>
          <a:p>
            <a:pPr algn="l" marL="604519" indent="-302260" lvl="1">
              <a:lnSpc>
                <a:spcPts val="6495"/>
              </a:lnSpc>
              <a:buFont typeface="Arial"/>
              <a:buChar char="•"/>
            </a:pPr>
            <a:r>
              <a:rPr lang="en-US" sz="2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Class 2 (Diabetic): between 7.0 and 10.5 (reaching up to 16).</a:t>
            </a:r>
          </a:p>
          <a:p>
            <a:pPr algn="l" marL="604519" indent="-302260" lvl="1">
              <a:lnSpc>
                <a:spcPts val="6495"/>
              </a:lnSpc>
              <a:buFont typeface="Arial"/>
              <a:buChar char="•"/>
            </a:pPr>
            <a:r>
              <a:rPr lang="en-US" sz="2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Takeaway: Higher HbA1c levels strongly correlate with diabetes.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4484" y="1870257"/>
            <a:ext cx="13119145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09" indent="-410205" lvl="1">
              <a:lnSpc>
                <a:spcPts val="5319"/>
              </a:lnSpc>
              <a:spcBef>
                <a:spcPct val="0"/>
              </a:spcBef>
              <a:buAutoNum type="arabicPeriod" startAt="1"/>
            </a:pPr>
            <a:r>
              <a:rPr lang="en-US" sz="3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 Which </a:t>
            </a:r>
            <a:r>
              <a:rPr lang="en-US" sz="3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HbA1c levels Range belongs to which Class?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242" y="2847944"/>
            <a:ext cx="7787683" cy="7047409"/>
          </a:xfrm>
          <a:custGeom>
            <a:avLst/>
            <a:gdLst/>
            <a:ahLst/>
            <a:cxnLst/>
            <a:rect r="r" b="b" t="t" l="l"/>
            <a:pathLst>
              <a:path h="7047409" w="7787683">
                <a:moveTo>
                  <a:pt x="0" y="0"/>
                </a:moveTo>
                <a:lnTo>
                  <a:pt x="7787683" y="0"/>
                </a:lnTo>
                <a:lnTo>
                  <a:pt x="7787683" y="7047409"/>
                </a:lnTo>
                <a:lnTo>
                  <a:pt x="0" y="7047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42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2.DATA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965774"/>
            <a:ext cx="10247342" cy="3626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7499"/>
              </a:lnSpc>
              <a:buAutoNum type="arabicPeriod" startAt="1"/>
            </a:pPr>
            <a:r>
              <a:rPr lang="en-US" sz="29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BMI (Body Mass Index) — Correlation: 0.57</a:t>
            </a:r>
          </a:p>
          <a:p>
            <a:pPr algn="l" marL="647698" indent="-323849" lvl="1">
              <a:lnSpc>
                <a:spcPts val="7499"/>
              </a:lnSpc>
              <a:buAutoNum type="arabicPeriod" startAt="1"/>
            </a:pPr>
            <a:r>
              <a:rPr lang="en-US" sz="29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HbA1c (%) — Correlation: 0.56</a:t>
            </a:r>
          </a:p>
          <a:p>
            <a:pPr algn="l" marL="647698" indent="-323849" lvl="1">
              <a:lnSpc>
                <a:spcPts val="7499"/>
              </a:lnSpc>
              <a:buAutoNum type="arabicPeriod" startAt="1"/>
            </a:pPr>
            <a:r>
              <a:rPr lang="en-US" sz="29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AGE — Correlation: 0.44</a:t>
            </a:r>
          </a:p>
          <a:p>
            <a:pPr algn="l">
              <a:lnSpc>
                <a:spcPts val="69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44484" y="1870257"/>
            <a:ext cx="12982554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09" indent="-410205" lvl="1">
              <a:lnSpc>
                <a:spcPts val="5319"/>
              </a:lnSpc>
              <a:spcBef>
                <a:spcPct val="0"/>
              </a:spcBef>
              <a:buAutoNum type="arabicPeriod" startAt="1"/>
            </a:pPr>
            <a:r>
              <a:rPr lang="en-US" sz="3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Which features a</a:t>
            </a:r>
            <a:r>
              <a:rPr lang="en-US" sz="3799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re most strongly tied to diabetes?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42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2219" y="1906266"/>
            <a:ext cx="3726767" cy="7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2"/>
              </a:lnSpc>
              <a:spcBef>
                <a:spcPct val="0"/>
              </a:spcBef>
            </a:pPr>
            <a:r>
              <a:rPr lang="en-US" sz="4002" spc="-40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2" spc="-40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156" y="2827752"/>
            <a:ext cx="13033418" cy="514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10458"/>
              </a:lnSpc>
              <a:buAutoNum type="arabicPeriod" startAt="1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Removed unnecessary columns (ID, No_Pation)</a:t>
            </a:r>
          </a:p>
          <a:p>
            <a:pPr algn="l" marL="906780" indent="-453390" lvl="1">
              <a:lnSpc>
                <a:spcPts val="10458"/>
              </a:lnSpc>
              <a:buAutoNum type="arabicPeriod" startAt="1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Encoded categorical variables (Gender, CLASS)</a:t>
            </a:r>
          </a:p>
          <a:p>
            <a:pPr algn="l" marL="906780" indent="-453390" lvl="1">
              <a:lnSpc>
                <a:spcPts val="10458"/>
              </a:lnSpc>
              <a:buAutoNum type="arabicPeriod" startAt="1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Standardized features for Logistic Regression</a:t>
            </a:r>
          </a:p>
          <a:p>
            <a:pPr algn="l" marL="906780" indent="-453390" lvl="1">
              <a:lnSpc>
                <a:spcPts val="10458"/>
              </a:lnSpc>
              <a:buAutoNum type="arabicPeriod" startAt="1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Split the dataset into 80% training and 20% testing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59300" y="-320617"/>
            <a:ext cx="3581400" cy="11233035"/>
            <a:chOff x="0" y="0"/>
            <a:chExt cx="943249" cy="2958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3249" cy="2958495"/>
            </a:xfrm>
            <a:custGeom>
              <a:avLst/>
              <a:gdLst/>
              <a:ahLst/>
              <a:cxnLst/>
              <a:rect r="r" b="b" t="t" l="l"/>
              <a:pathLst>
                <a:path h="2958495" w="943249">
                  <a:moveTo>
                    <a:pt x="0" y="0"/>
                  </a:moveTo>
                  <a:lnTo>
                    <a:pt x="943249" y="0"/>
                  </a:lnTo>
                  <a:lnTo>
                    <a:pt x="943249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943249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42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2429" y="1856862"/>
            <a:ext cx="6333354" cy="7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2"/>
              </a:lnSpc>
              <a:spcBef>
                <a:spcPct val="0"/>
              </a:spcBef>
            </a:pPr>
            <a:r>
              <a:rPr lang="en-US" sz="4002" spc="-40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4002" spc="-40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achine Learning Models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2429" y="2793284"/>
            <a:ext cx="13033418" cy="514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8"/>
              </a:lnSpc>
            </a:pPr>
            <a:r>
              <a:rPr lang="en-US" sz="4200" spc="-42" b="true">
                <a:solidFill>
                  <a:srgbClr val="1F191A"/>
                </a:solidFill>
                <a:latin typeface="Arial Bold"/>
                <a:ea typeface="Arial Bold"/>
                <a:cs typeface="Arial Bold"/>
                <a:sym typeface="Arial Bold"/>
              </a:rPr>
              <a:t>L</a:t>
            </a:r>
            <a:r>
              <a:rPr lang="en-US" b="true" sz="4200" spc="-42">
                <a:solidFill>
                  <a:srgbClr val="1F191A"/>
                </a:solidFill>
                <a:latin typeface="Arial Bold"/>
                <a:ea typeface="Arial Bold"/>
                <a:cs typeface="Arial Bold"/>
                <a:sym typeface="Arial Bold"/>
              </a:rPr>
              <a:t>ogistic Regression:</a:t>
            </a:r>
          </a:p>
          <a:p>
            <a:pPr algn="l" marL="906780" indent="-453390" lvl="1">
              <a:lnSpc>
                <a:spcPts val="10458"/>
              </a:lnSpc>
              <a:buFont typeface="Arial"/>
              <a:buChar char="•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Used as a baseline classification model.</a:t>
            </a:r>
          </a:p>
          <a:p>
            <a:pPr algn="l" marL="906780" indent="-453390" lvl="1">
              <a:lnSpc>
                <a:spcPts val="10458"/>
              </a:lnSpc>
              <a:buFont typeface="Arial"/>
              <a:buChar char="•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Suitable for binary classification.</a:t>
            </a:r>
          </a:p>
          <a:p>
            <a:pPr algn="l" marL="906780" indent="-453390" lvl="1">
              <a:lnSpc>
                <a:spcPts val="10458"/>
              </a:lnSpc>
              <a:buFont typeface="Arial"/>
              <a:buChar char="•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Hyperparameters tuned using GridSearchCV.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91894" y="0"/>
            <a:ext cx="3581400" cy="11233035"/>
            <a:chOff x="0" y="0"/>
            <a:chExt cx="943249" cy="2958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3249" cy="2958495"/>
            </a:xfrm>
            <a:custGeom>
              <a:avLst/>
              <a:gdLst/>
              <a:ahLst/>
              <a:cxnLst/>
              <a:rect r="r" b="b" t="t" l="l"/>
              <a:pathLst>
                <a:path h="2958495" w="943249">
                  <a:moveTo>
                    <a:pt x="0" y="0"/>
                  </a:moveTo>
                  <a:lnTo>
                    <a:pt x="943249" y="0"/>
                  </a:lnTo>
                  <a:lnTo>
                    <a:pt x="943249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943249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6642" y="3375191"/>
            <a:ext cx="11650572" cy="6201111"/>
          </a:xfrm>
          <a:custGeom>
            <a:avLst/>
            <a:gdLst/>
            <a:ahLst/>
            <a:cxnLst/>
            <a:rect r="r" b="b" t="t" l="l"/>
            <a:pathLst>
              <a:path h="6201111" w="11650572">
                <a:moveTo>
                  <a:pt x="0" y="0"/>
                </a:moveTo>
                <a:lnTo>
                  <a:pt x="11650572" y="0"/>
                </a:lnTo>
                <a:lnTo>
                  <a:pt x="11650572" y="6201111"/>
                </a:lnTo>
                <a:lnTo>
                  <a:pt x="0" y="620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6642" y="8503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1366" y="1975807"/>
            <a:ext cx="8362634" cy="86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 spc="-48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Logistic Regression: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6642" y="8503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1807" y="3377931"/>
            <a:ext cx="7161037" cy="6426572"/>
          </a:xfrm>
          <a:custGeom>
            <a:avLst/>
            <a:gdLst/>
            <a:ahLst/>
            <a:cxnLst/>
            <a:rect r="r" b="b" t="t" l="l"/>
            <a:pathLst>
              <a:path h="6426572" w="7161037">
                <a:moveTo>
                  <a:pt x="0" y="0"/>
                </a:moveTo>
                <a:lnTo>
                  <a:pt x="7161037" y="0"/>
                </a:lnTo>
                <a:lnTo>
                  <a:pt x="7161037" y="6426571"/>
                </a:lnTo>
                <a:lnTo>
                  <a:pt x="0" y="6426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6642" y="8503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1366" y="1975807"/>
            <a:ext cx="8362634" cy="86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 spc="-48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Logistic Regression: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6642" y="8503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9206" y="3305174"/>
            <a:ext cx="8260094" cy="59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5264"/>
              </a:lnSpc>
              <a:buFont typeface="Arial"/>
              <a:buChar char="•"/>
            </a:pPr>
            <a:r>
              <a:rPr lang="en-US" sz="2699" spc="-26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Class 0: 18 correctly identified (True Negatives). 3 were misclassified (2 as Pre-diabetic, 1 as Diabetic).</a:t>
            </a:r>
          </a:p>
          <a:p>
            <a:pPr algn="l" marL="582928" indent="-291464" lvl="1">
              <a:lnSpc>
                <a:spcPts val="5264"/>
              </a:lnSpc>
              <a:buFont typeface="Arial"/>
              <a:buChar char="•"/>
            </a:pPr>
            <a:r>
              <a:rPr lang="en-US" sz="2699" spc="-26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Class 1: 6 correctly identified (True Positives). 4 were misclassified (2 as Non-diabetic, 2 as Diabetic).</a:t>
            </a:r>
          </a:p>
          <a:p>
            <a:pPr algn="l" marL="582928" indent="-291464" lvl="1">
              <a:lnSpc>
                <a:spcPts val="5264"/>
              </a:lnSpc>
              <a:buFont typeface="Arial"/>
              <a:buChar char="•"/>
            </a:pPr>
            <a:r>
              <a:rPr lang="en-US" sz="2699" spc="-26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Class 2 : 165 correctly identified (True Positives). 4 were misclassified (1 as Non-diabetic, 3 as Pre-diabetic).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42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2429" y="1733037"/>
            <a:ext cx="6333354" cy="70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2"/>
              </a:lnSpc>
              <a:spcBef>
                <a:spcPct val="0"/>
              </a:spcBef>
            </a:pPr>
            <a:r>
              <a:rPr lang="en-US" sz="4002" spc="-40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4002" spc="-40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achine Learning Models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2429" y="2792890"/>
            <a:ext cx="13033418" cy="646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8"/>
              </a:lnSpc>
            </a:pPr>
            <a:r>
              <a:rPr lang="en-US" sz="4200" spc="-42" b="true">
                <a:solidFill>
                  <a:srgbClr val="1F191A"/>
                </a:solidFill>
                <a:latin typeface="Arial Bold"/>
                <a:ea typeface="Arial Bold"/>
                <a:cs typeface="Arial Bold"/>
                <a:sym typeface="Arial Bold"/>
              </a:rPr>
              <a:t>Rand</a:t>
            </a:r>
            <a:r>
              <a:rPr lang="en-US" b="true" sz="4200" spc="-42">
                <a:solidFill>
                  <a:srgbClr val="1F191A"/>
                </a:solidFill>
                <a:latin typeface="Arial Bold"/>
                <a:ea typeface="Arial Bold"/>
                <a:cs typeface="Arial Bold"/>
                <a:sym typeface="Arial Bold"/>
              </a:rPr>
              <a:t>om Forest:</a:t>
            </a:r>
          </a:p>
          <a:p>
            <a:pPr algn="l" marL="906780" indent="-453390" lvl="1">
              <a:lnSpc>
                <a:spcPts val="10458"/>
              </a:lnSpc>
              <a:buFont typeface="Arial"/>
              <a:buChar char="•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semble learning algorithm based on multiple decision trees.</a:t>
            </a:r>
          </a:p>
          <a:p>
            <a:pPr algn="l" marL="906780" indent="-453390" lvl="1">
              <a:lnSpc>
                <a:spcPts val="10458"/>
              </a:lnSpc>
              <a:buFont typeface="Arial"/>
              <a:buChar char="•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Handles nonlinear relationships effectively.</a:t>
            </a:r>
          </a:p>
          <a:p>
            <a:pPr algn="l" marL="906780" indent="-453390" lvl="1">
              <a:lnSpc>
                <a:spcPts val="10458"/>
              </a:lnSpc>
              <a:buFont typeface="Arial"/>
              <a:buChar char="•"/>
            </a:pPr>
            <a:r>
              <a:rPr lang="en-US" sz="4200" spc="-42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Hyperparameters optimized using GridSearchCV.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91894" y="0"/>
            <a:ext cx="3581400" cy="11233035"/>
            <a:chOff x="0" y="0"/>
            <a:chExt cx="943249" cy="2958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3249" cy="2958495"/>
            </a:xfrm>
            <a:custGeom>
              <a:avLst/>
              <a:gdLst/>
              <a:ahLst/>
              <a:cxnLst/>
              <a:rect r="r" b="b" t="t" l="l"/>
              <a:pathLst>
                <a:path h="2958495" w="943249">
                  <a:moveTo>
                    <a:pt x="0" y="0"/>
                  </a:moveTo>
                  <a:lnTo>
                    <a:pt x="943249" y="0"/>
                  </a:lnTo>
                  <a:lnTo>
                    <a:pt x="943249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943249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6642" y="3228855"/>
            <a:ext cx="12279748" cy="6029445"/>
          </a:xfrm>
          <a:custGeom>
            <a:avLst/>
            <a:gdLst/>
            <a:ahLst/>
            <a:cxnLst/>
            <a:rect r="r" b="b" t="t" l="l"/>
            <a:pathLst>
              <a:path h="6029445" w="12279748">
                <a:moveTo>
                  <a:pt x="0" y="0"/>
                </a:moveTo>
                <a:lnTo>
                  <a:pt x="12279748" y="0"/>
                </a:lnTo>
                <a:lnTo>
                  <a:pt x="12279748" y="6029445"/>
                </a:lnTo>
                <a:lnTo>
                  <a:pt x="0" y="6029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1366" y="2101556"/>
            <a:ext cx="8362634" cy="86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 spc="-48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6642" y="8503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042" y="3016078"/>
            <a:ext cx="7140233" cy="6407902"/>
          </a:xfrm>
          <a:custGeom>
            <a:avLst/>
            <a:gdLst/>
            <a:ahLst/>
            <a:cxnLst/>
            <a:rect r="r" b="b" t="t" l="l"/>
            <a:pathLst>
              <a:path h="6407902" w="7140233">
                <a:moveTo>
                  <a:pt x="0" y="0"/>
                </a:moveTo>
                <a:lnTo>
                  <a:pt x="7140233" y="0"/>
                </a:lnTo>
                <a:lnTo>
                  <a:pt x="7140233" y="6407902"/>
                </a:lnTo>
                <a:lnTo>
                  <a:pt x="0" y="640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99206" y="3318092"/>
            <a:ext cx="7966938" cy="48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6551"/>
              </a:lnSpc>
              <a:buFont typeface="Arial"/>
              <a:buChar char="•"/>
            </a:pPr>
            <a:r>
              <a:rPr lang="en-US" sz="2799" spc="-27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Class 0 : correctly predicted all 21 of class 0. No misclassifications for this class.</a:t>
            </a:r>
          </a:p>
          <a:p>
            <a:pPr algn="l" marL="604518" indent="-302259" lvl="1">
              <a:lnSpc>
                <a:spcPts val="6551"/>
              </a:lnSpc>
              <a:buFont typeface="Arial"/>
              <a:buChar char="•"/>
            </a:pPr>
            <a:r>
              <a:rPr lang="en-US" sz="2799" spc="-27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Class 1: correctly predicted 9 of class 1. One of class 1 was misclassified as class 2 (Diabetic).</a:t>
            </a:r>
          </a:p>
          <a:p>
            <a:pPr algn="just" marL="604518" indent="-302259" lvl="1">
              <a:lnSpc>
                <a:spcPts val="6551"/>
              </a:lnSpc>
              <a:buFont typeface="Arial"/>
              <a:buChar char="•"/>
            </a:pPr>
            <a:r>
              <a:rPr lang="en-US" sz="2799" spc="-27">
                <a:solidFill>
                  <a:srgbClr val="1F191A"/>
                </a:solidFill>
                <a:latin typeface="Arial"/>
                <a:ea typeface="Arial"/>
                <a:cs typeface="Arial"/>
                <a:sym typeface="Arial"/>
              </a:rPr>
              <a:t>Class 2 : correctly predicted all 169 of class 2. There were no misclassifications for this class.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9042" y="697979"/>
            <a:ext cx="10185832" cy="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5402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3.METHODOLOGY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3718" y="1907499"/>
            <a:ext cx="8362634" cy="86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 spc="-48">
                <a:solidFill>
                  <a:srgbClr val="1F191A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4958" y="-473017"/>
            <a:ext cx="3086100" cy="11233035"/>
            <a:chOff x="0" y="0"/>
            <a:chExt cx="812800" cy="29584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1059" y="682319"/>
            <a:ext cx="10661149" cy="73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b="true" sz="5400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4.COMPARAT</a:t>
            </a:r>
            <a:r>
              <a:rPr lang="en-US" b="true" sz="5400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IVE ANALYSIS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41301" y="3102860"/>
            <a:ext cx="7702941" cy="4081281"/>
          </a:xfrm>
          <a:custGeom>
            <a:avLst/>
            <a:gdLst/>
            <a:ahLst/>
            <a:cxnLst/>
            <a:rect r="r" b="b" t="t" l="l"/>
            <a:pathLst>
              <a:path h="4081281" w="7702941">
                <a:moveTo>
                  <a:pt x="0" y="0"/>
                </a:moveTo>
                <a:lnTo>
                  <a:pt x="7702941" y="0"/>
                </a:lnTo>
                <a:lnTo>
                  <a:pt x="7702941" y="4081280"/>
                </a:lnTo>
                <a:lnTo>
                  <a:pt x="0" y="408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8" r="0" b="-22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24928" y="3102860"/>
            <a:ext cx="7748337" cy="4134582"/>
          </a:xfrm>
          <a:custGeom>
            <a:avLst/>
            <a:gdLst/>
            <a:ahLst/>
            <a:cxnLst/>
            <a:rect r="r" b="b" t="t" l="l"/>
            <a:pathLst>
              <a:path h="4134582" w="7748337">
                <a:moveTo>
                  <a:pt x="0" y="0"/>
                </a:moveTo>
                <a:lnTo>
                  <a:pt x="7748336" y="0"/>
                </a:lnTo>
                <a:lnTo>
                  <a:pt x="7748336" y="4134581"/>
                </a:lnTo>
                <a:lnTo>
                  <a:pt x="0" y="4134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79" t="-4042" r="-6191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8675" y="2378083"/>
            <a:ext cx="10348897" cy="4782610"/>
          </a:xfrm>
          <a:custGeom>
            <a:avLst/>
            <a:gdLst/>
            <a:ahLst/>
            <a:cxnLst/>
            <a:rect r="r" b="b" t="t" l="l"/>
            <a:pathLst>
              <a:path h="4782610" w="10348897">
                <a:moveTo>
                  <a:pt x="0" y="0"/>
                </a:moveTo>
                <a:lnTo>
                  <a:pt x="10348897" y="0"/>
                </a:lnTo>
                <a:lnTo>
                  <a:pt x="10348897" y="4782609"/>
                </a:lnTo>
                <a:lnTo>
                  <a:pt x="0" y="4782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43" t="0" r="-484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675" y="682319"/>
            <a:ext cx="10661149" cy="73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b="true" sz="5400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4.COMPARAT</a:t>
            </a:r>
            <a:r>
              <a:rPr lang="en-US" b="true" sz="5400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IVE ANALYSIS</a:t>
            </a:r>
          </a:p>
        </p:txBody>
      </p:sp>
      <p:graphicFrame>
        <p:nvGraphicFramePr>
          <p:cNvPr name="Object 4" id="4"/>
          <p:cNvGraphicFramePr/>
          <p:nvPr/>
        </p:nvGraphicFramePr>
        <p:xfrm>
          <a:off x="11761353" y="2378083"/>
          <a:ext cx="5657850" cy="3771900"/>
        </p:xfrm>
        <a:graphic>
          <a:graphicData uri="http://schemas.openxmlformats.org/presentationml/2006/ole">
            <p:oleObj imgW="6781800" imgH="4902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4958" y="-473017"/>
            <a:ext cx="3086100" cy="11233035"/>
            <a:chOff x="0" y="0"/>
            <a:chExt cx="812800" cy="29584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784485" y="1896011"/>
          <a:ext cx="5657850" cy="5029200"/>
        </p:xfrm>
        <a:graphic>
          <a:graphicData uri="http://schemas.openxmlformats.org/presentationml/2006/ole">
            <p:oleObj imgW="6781800" imgH="6159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441059" y="682319"/>
            <a:ext cx="10661149" cy="73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b="true" sz="5400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4.COMPARAT</a:t>
            </a:r>
            <a:r>
              <a:rPr lang="en-US" b="true" sz="5400" spc="-54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IVE ANALYSIS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9994" y="4040337"/>
            <a:ext cx="7912403" cy="244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5"/>
              </a:lnSpc>
            </a:pPr>
            <a:r>
              <a:rPr lang="en-US" b="true" sz="9662" spc="-96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algn="l">
              <a:lnSpc>
                <a:spcPts val="8985"/>
              </a:lnSpc>
            </a:pPr>
            <a:r>
              <a:rPr lang="en-US" b="true" sz="9662" spc="-96">
                <a:solidFill>
                  <a:srgbClr val="1F191A"/>
                </a:solidFill>
                <a:latin typeface="Poppins Bold"/>
                <a:ea typeface="Poppins Bold"/>
                <a:cs typeface="Poppins Bold"/>
                <a:sym typeface="Poppins Bold"/>
              </a:rPr>
              <a:t>VERY MUCH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3420" y="1569625"/>
            <a:ext cx="6579955" cy="6726720"/>
          </a:xfrm>
          <a:custGeom>
            <a:avLst/>
            <a:gdLst/>
            <a:ahLst/>
            <a:cxnLst/>
            <a:rect r="r" b="b" t="t" l="l"/>
            <a:pathLst>
              <a:path h="6726720" w="6579955">
                <a:moveTo>
                  <a:pt x="0" y="0"/>
                </a:moveTo>
                <a:lnTo>
                  <a:pt x="6579955" y="0"/>
                </a:lnTo>
                <a:lnTo>
                  <a:pt x="6579955" y="6726720"/>
                </a:lnTo>
                <a:lnTo>
                  <a:pt x="0" y="672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06115" y="-473017"/>
            <a:ext cx="3086100" cy="11233035"/>
            <a:chOff x="0" y="0"/>
            <a:chExt cx="812800" cy="29584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958495"/>
            </a:xfrm>
            <a:custGeom>
              <a:avLst/>
              <a:gdLst/>
              <a:ahLst/>
              <a:cxnLst/>
              <a:rect r="r" b="b" t="t" l="l"/>
              <a:pathLst>
                <a:path h="29584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58495"/>
                  </a:lnTo>
                  <a:lnTo>
                    <a:pt x="0" y="2958495"/>
                  </a:ln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812800" cy="293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DAHOJWVEwsg</dc:identifier>
  <dcterms:modified xsi:type="dcterms:W3CDTF">2011-08-01T06:04:30Z</dcterms:modified>
  <cp:revision>1</cp:revision>
  <dc:title>Diabetes Prediction</dc:title>
</cp:coreProperties>
</file>