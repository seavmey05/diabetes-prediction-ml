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Poppins Semi-Bold" charset="1" panose="00000700000000000000"/>
      <p:regular r:id="rId30"/>
    </p:embeddedFont>
    <p:embeddedFont>
      <p:font typeface="Poppins" charset="1" panose="00000500000000000000"/>
      <p:regular r:id="rId31"/>
    </p:embeddedFont>
    <p:embeddedFont>
      <p:font typeface="Poppins Bold" charset="1" panose="00000800000000000000"/>
      <p:regular r:id="rId32"/>
    </p:embeddedFont>
    <p:embeddedFont>
      <p:font typeface="Canva Sans" charset="1" panose="020B0503030501040103"/>
      <p:regular r:id="rId33"/>
    </p:embeddedFont>
    <p:embeddedFont>
      <p:font typeface="IBM Plex Mono" charset="1" panose="020B0509050203000203"/>
      <p:regular r:id="rId34"/>
    </p:embeddedFont>
    <p:embeddedFont>
      <p:font typeface="Arial" charset="1" panose="020B06040202020202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embeddings/oleObject1.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embeddings/oleObject2.bin" Type="http://schemas.openxmlformats.org/officeDocument/2006/relationships/oleObjec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776899" y="3816353"/>
            <a:ext cx="11255793" cy="1076852"/>
          </a:xfrm>
          <a:prstGeom prst="rect">
            <a:avLst/>
          </a:prstGeom>
        </p:spPr>
        <p:txBody>
          <a:bodyPr anchor="t" rtlCol="false" tIns="0" lIns="0" bIns="0" rIns="0">
            <a:spAutoFit/>
          </a:bodyPr>
          <a:lstStyle/>
          <a:p>
            <a:pPr algn="l">
              <a:lnSpc>
                <a:spcPts val="7075"/>
              </a:lnSpc>
            </a:pPr>
            <a:r>
              <a:rPr lang="en-US" b="true" sz="8524" spc="-426">
                <a:solidFill>
                  <a:srgbClr val="428DFF"/>
                </a:solidFill>
                <a:latin typeface="Poppins Semi-Bold"/>
                <a:ea typeface="Poppins Semi-Bold"/>
                <a:cs typeface="Poppins Semi-Bold"/>
                <a:sym typeface="Poppins Semi-Bold"/>
              </a:rPr>
              <a:t> </a:t>
            </a:r>
            <a:r>
              <a:rPr lang="en-US" b="true" sz="8524" spc="-426">
                <a:solidFill>
                  <a:srgbClr val="428DFF"/>
                </a:solidFill>
                <a:latin typeface="Poppins Semi-Bold"/>
                <a:ea typeface="Poppins Semi-Bold"/>
                <a:cs typeface="Poppins Semi-Bold"/>
                <a:sym typeface="Poppins Semi-Bold"/>
              </a:rPr>
              <a:t>DIABETES PREDICTION</a:t>
            </a:r>
          </a:p>
        </p:txBody>
      </p:sp>
      <p:grpSp>
        <p:nvGrpSpPr>
          <p:cNvPr name="Group 3" id="3"/>
          <p:cNvGrpSpPr/>
          <p:nvPr/>
        </p:nvGrpSpPr>
        <p:grpSpPr>
          <a:xfrm rot="0">
            <a:off x="17602200" y="-473017"/>
            <a:ext cx="3086100" cy="11233035"/>
            <a:chOff x="0" y="0"/>
            <a:chExt cx="812800" cy="2958495"/>
          </a:xfrm>
        </p:grpSpPr>
        <p:sp>
          <p:nvSpPr>
            <p:cNvPr name="Freeform 4" id="4"/>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5" id="5"/>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sp>
        <p:nvSpPr>
          <p:cNvPr name="TextBox 6" id="6"/>
          <p:cNvSpPr txBox="true"/>
          <p:nvPr/>
        </p:nvSpPr>
        <p:spPr>
          <a:xfrm rot="0">
            <a:off x="1028700" y="6847345"/>
            <a:ext cx="4418109" cy="584178"/>
          </a:xfrm>
          <a:prstGeom prst="rect">
            <a:avLst/>
          </a:prstGeom>
        </p:spPr>
        <p:txBody>
          <a:bodyPr anchor="t" rtlCol="false" tIns="0" lIns="0" bIns="0" rIns="0">
            <a:spAutoFit/>
          </a:bodyPr>
          <a:lstStyle/>
          <a:p>
            <a:pPr algn="l">
              <a:lnSpc>
                <a:spcPts val="4759"/>
              </a:lnSpc>
            </a:pPr>
            <a:r>
              <a:rPr lang="en-US" sz="2799">
                <a:solidFill>
                  <a:srgbClr val="281D57"/>
                </a:solidFill>
                <a:latin typeface="Poppins"/>
                <a:ea typeface="Poppins"/>
                <a:cs typeface="Poppins"/>
                <a:sym typeface="Poppins"/>
              </a:rPr>
              <a:t>Presented By Group 2</a:t>
            </a:r>
          </a:p>
        </p:txBody>
      </p:sp>
      <p:sp>
        <p:nvSpPr>
          <p:cNvPr name="Freeform 7" id="7"/>
          <p:cNvSpPr/>
          <p:nvPr/>
        </p:nvSpPr>
        <p:spPr>
          <a:xfrm flipH="false" flipV="false" rot="0">
            <a:off x="1028700" y="245198"/>
            <a:ext cx="9659394" cy="2610495"/>
          </a:xfrm>
          <a:custGeom>
            <a:avLst/>
            <a:gdLst/>
            <a:ahLst/>
            <a:cxnLst/>
            <a:rect r="r" b="b" t="t" l="l"/>
            <a:pathLst>
              <a:path h="2610495" w="9659394">
                <a:moveTo>
                  <a:pt x="0" y="0"/>
                </a:moveTo>
                <a:lnTo>
                  <a:pt x="9659394" y="0"/>
                </a:lnTo>
                <a:lnTo>
                  <a:pt x="9659394" y="2610495"/>
                </a:lnTo>
                <a:lnTo>
                  <a:pt x="0" y="2610495"/>
                </a:lnTo>
                <a:lnTo>
                  <a:pt x="0" y="0"/>
                </a:lnTo>
                <a:close/>
              </a:path>
            </a:pathLst>
          </a:custGeom>
          <a:blipFill>
            <a:blip r:embed="rId2"/>
            <a:stretch>
              <a:fillRect l="0" t="-140" r="-275" b="-140"/>
            </a:stretch>
          </a:blipFill>
        </p:spPr>
      </p:sp>
      <p:sp>
        <p:nvSpPr>
          <p:cNvPr name="TextBox 8" id="8"/>
          <p:cNvSpPr txBox="true"/>
          <p:nvPr/>
        </p:nvSpPr>
        <p:spPr>
          <a:xfrm rot="0">
            <a:off x="1028700" y="5169430"/>
            <a:ext cx="6431672" cy="1420741"/>
          </a:xfrm>
          <a:prstGeom prst="rect">
            <a:avLst/>
          </a:prstGeom>
        </p:spPr>
        <p:txBody>
          <a:bodyPr anchor="t" rtlCol="false" tIns="0" lIns="0" bIns="0" rIns="0">
            <a:spAutoFit/>
          </a:bodyPr>
          <a:lstStyle/>
          <a:p>
            <a:pPr algn="l">
              <a:lnSpc>
                <a:spcPts val="5677"/>
              </a:lnSpc>
            </a:pPr>
            <a:r>
              <a:rPr lang="en-US" sz="3616" b="true">
                <a:solidFill>
                  <a:srgbClr val="281D57"/>
                </a:solidFill>
                <a:latin typeface="Poppins Bold"/>
                <a:ea typeface="Poppins Bold"/>
                <a:cs typeface="Poppins Bold"/>
                <a:sym typeface="Poppins Bold"/>
              </a:rPr>
              <a:t>Subject : Machine Learning</a:t>
            </a:r>
          </a:p>
          <a:p>
            <a:pPr algn="l">
              <a:lnSpc>
                <a:spcPts val="5677"/>
              </a:lnSpc>
            </a:pPr>
            <a:r>
              <a:rPr lang="en-US" sz="3616" b="true">
                <a:solidFill>
                  <a:srgbClr val="281D57"/>
                </a:solidFill>
                <a:latin typeface="Poppins Bold"/>
                <a:ea typeface="Poppins Bold"/>
                <a:cs typeface="Poppins Bold"/>
                <a:sym typeface="Poppins Bold"/>
              </a:rPr>
              <a:t>Lecturer : Him Soklong</a:t>
            </a:r>
          </a:p>
        </p:txBody>
      </p:sp>
      <p:sp>
        <p:nvSpPr>
          <p:cNvPr name="Freeform 9" id="9"/>
          <p:cNvSpPr/>
          <p:nvPr/>
        </p:nvSpPr>
        <p:spPr>
          <a:xfrm flipH="false" flipV="false" rot="0">
            <a:off x="12294242" y="4620265"/>
            <a:ext cx="4469100" cy="4637745"/>
          </a:xfrm>
          <a:custGeom>
            <a:avLst/>
            <a:gdLst/>
            <a:ahLst/>
            <a:cxnLst/>
            <a:rect r="r" b="b" t="t" l="l"/>
            <a:pathLst>
              <a:path h="4637745" w="4469100">
                <a:moveTo>
                  <a:pt x="0" y="0"/>
                </a:moveTo>
                <a:lnTo>
                  <a:pt x="4469100" y="0"/>
                </a:lnTo>
                <a:lnTo>
                  <a:pt x="4469100" y="4637745"/>
                </a:lnTo>
                <a:lnTo>
                  <a:pt x="0" y="46377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7626416"/>
            <a:ext cx="4418109" cy="1784284"/>
          </a:xfrm>
          <a:prstGeom prst="rect">
            <a:avLst/>
          </a:prstGeom>
        </p:spPr>
        <p:txBody>
          <a:bodyPr anchor="t" rtlCol="false" tIns="0" lIns="0" bIns="0" rIns="0">
            <a:spAutoFit/>
          </a:bodyPr>
          <a:lstStyle/>
          <a:p>
            <a:pPr algn="l" marL="604519" indent="-302260" lvl="1">
              <a:lnSpc>
                <a:spcPts val="4759"/>
              </a:lnSpc>
              <a:buFont typeface="Arial"/>
              <a:buChar char="•"/>
            </a:pPr>
            <a:r>
              <a:rPr lang="en-US" sz="2799">
                <a:solidFill>
                  <a:srgbClr val="281D57"/>
                </a:solidFill>
                <a:latin typeface="Poppins"/>
                <a:ea typeface="Poppins"/>
                <a:cs typeface="Poppins"/>
                <a:sym typeface="Poppins"/>
              </a:rPr>
              <a:t>Ly Seavmey</a:t>
            </a:r>
          </a:p>
          <a:p>
            <a:pPr algn="l" marL="604519" indent="-302260" lvl="1">
              <a:lnSpc>
                <a:spcPts val="4759"/>
              </a:lnSpc>
              <a:buFont typeface="Arial"/>
              <a:buChar char="•"/>
            </a:pPr>
            <a:r>
              <a:rPr lang="en-US" sz="2799">
                <a:solidFill>
                  <a:srgbClr val="281D57"/>
                </a:solidFill>
                <a:latin typeface="Poppins"/>
                <a:ea typeface="Poppins"/>
                <a:cs typeface="Poppins"/>
                <a:sym typeface="Poppins"/>
              </a:rPr>
              <a:t>Chamroeun Vichita </a:t>
            </a:r>
          </a:p>
          <a:p>
            <a:pPr algn="l">
              <a:lnSpc>
                <a:spcPts val="4759"/>
              </a:lnSpc>
            </a:pP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581150" y="981075"/>
            <a:ext cx="10185832" cy="737642"/>
          </a:xfrm>
          <a:prstGeom prst="rect">
            <a:avLst/>
          </a:prstGeom>
        </p:spPr>
        <p:txBody>
          <a:bodyPr anchor="t" rtlCol="false" tIns="0" lIns="0" bIns="0" rIns="0">
            <a:spAutoFit/>
          </a:bodyPr>
          <a:lstStyle/>
          <a:p>
            <a:pPr algn="just">
              <a:lnSpc>
                <a:spcPts val="5023"/>
              </a:lnSpc>
            </a:pPr>
            <a:r>
              <a:rPr lang="en-US" b="true" sz="5402" spc="-54">
                <a:solidFill>
                  <a:srgbClr val="1F191A"/>
                </a:solidFill>
                <a:latin typeface="Poppins Bold"/>
                <a:ea typeface="Poppins Bold"/>
                <a:cs typeface="Poppins Bold"/>
                <a:sym typeface="Poppins Bold"/>
              </a:rPr>
              <a:t>CONTENTS</a:t>
            </a:r>
          </a:p>
        </p:txBody>
      </p:sp>
      <p:grpSp>
        <p:nvGrpSpPr>
          <p:cNvPr name="Group 3" id="3"/>
          <p:cNvGrpSpPr/>
          <p:nvPr/>
        </p:nvGrpSpPr>
        <p:grpSpPr>
          <a:xfrm rot="0">
            <a:off x="17602200" y="-473017"/>
            <a:ext cx="3086100" cy="11233035"/>
            <a:chOff x="0" y="0"/>
            <a:chExt cx="812800" cy="2958495"/>
          </a:xfrm>
        </p:grpSpPr>
        <p:sp>
          <p:nvSpPr>
            <p:cNvPr name="Freeform 4" id="4"/>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5" id="5"/>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sp>
        <p:nvSpPr>
          <p:cNvPr name="TextBox 6" id="6"/>
          <p:cNvSpPr txBox="true"/>
          <p:nvPr/>
        </p:nvSpPr>
        <p:spPr>
          <a:xfrm rot="0">
            <a:off x="1495425" y="2067916"/>
            <a:ext cx="12518577" cy="7376236"/>
          </a:xfrm>
          <a:prstGeom prst="rect">
            <a:avLst/>
          </a:prstGeom>
        </p:spPr>
        <p:txBody>
          <a:bodyPr anchor="t" rtlCol="false" tIns="0" lIns="0" bIns="0" rIns="0">
            <a:spAutoFit/>
          </a:bodyPr>
          <a:lstStyle/>
          <a:p>
            <a:pPr algn="l" marL="669281" indent="-334641" lvl="1">
              <a:lnSpc>
                <a:spcPts val="6540"/>
              </a:lnSpc>
              <a:buAutoNum type="arabicPeriod" startAt="1"/>
            </a:pPr>
            <a:r>
              <a:rPr lang="en-US" sz="3099">
                <a:solidFill>
                  <a:srgbClr val="1F191A"/>
                </a:solidFill>
                <a:latin typeface="IBM Plex Mono"/>
                <a:ea typeface="IBM Plex Mono"/>
                <a:cs typeface="IBM Plex Mono"/>
                <a:sym typeface="IBM Plex Mono"/>
              </a:rPr>
              <a:t>Problem Statement</a:t>
            </a:r>
          </a:p>
          <a:p>
            <a:pPr algn="l" marL="669281" indent="-334641" lvl="1">
              <a:lnSpc>
                <a:spcPts val="6540"/>
              </a:lnSpc>
              <a:buAutoNum type="arabicPeriod" startAt="1"/>
            </a:pPr>
            <a:r>
              <a:rPr lang="en-US" sz="3099">
                <a:solidFill>
                  <a:srgbClr val="1F191A"/>
                </a:solidFill>
                <a:latin typeface="IBM Plex Mono"/>
                <a:ea typeface="IBM Plex Mono"/>
                <a:cs typeface="IBM Plex Mono"/>
                <a:sym typeface="IBM Plex Mono"/>
              </a:rPr>
              <a:t>Project Workflow</a:t>
            </a:r>
          </a:p>
          <a:p>
            <a:pPr algn="l" marL="669281" indent="-334641" lvl="1">
              <a:lnSpc>
                <a:spcPts val="6540"/>
              </a:lnSpc>
              <a:buAutoNum type="arabicPeriod" startAt="1"/>
            </a:pPr>
            <a:r>
              <a:rPr lang="en-US" sz="3099">
                <a:solidFill>
                  <a:srgbClr val="1F191A"/>
                </a:solidFill>
                <a:latin typeface="IBM Plex Mono"/>
                <a:ea typeface="IBM Plex Mono"/>
                <a:cs typeface="IBM Plex Mono"/>
                <a:sym typeface="IBM Plex Mono"/>
              </a:rPr>
              <a:t>Exploratory Data Analysis (EDA)</a:t>
            </a:r>
          </a:p>
          <a:p>
            <a:pPr algn="l" marL="669281" indent="-334641" lvl="1">
              <a:lnSpc>
                <a:spcPts val="6540"/>
              </a:lnSpc>
              <a:buAutoNum type="arabicPeriod" startAt="1"/>
            </a:pPr>
            <a:r>
              <a:rPr lang="en-US" sz="3099">
                <a:solidFill>
                  <a:srgbClr val="1F191A"/>
                </a:solidFill>
                <a:latin typeface="IBM Plex Mono"/>
                <a:ea typeface="IBM Plex Mono"/>
                <a:cs typeface="IBM Plex Mono"/>
                <a:sym typeface="IBM Plex Mono"/>
              </a:rPr>
              <a:t>Methodology</a:t>
            </a:r>
          </a:p>
          <a:p>
            <a:pPr algn="l" marL="669281" indent="-334641" lvl="1">
              <a:lnSpc>
                <a:spcPts val="6540"/>
              </a:lnSpc>
              <a:buAutoNum type="arabicPeriod" startAt="1"/>
            </a:pPr>
            <a:r>
              <a:rPr lang="en-US" sz="3099">
                <a:solidFill>
                  <a:srgbClr val="1F191A"/>
                </a:solidFill>
                <a:latin typeface="IBM Plex Mono"/>
                <a:ea typeface="IBM Plex Mono"/>
                <a:cs typeface="IBM Plex Mono"/>
                <a:sym typeface="IBM Plex Mono"/>
              </a:rPr>
              <a:t>Logistic Regression Model</a:t>
            </a:r>
          </a:p>
          <a:p>
            <a:pPr algn="l" marL="669281" indent="-334641" lvl="1">
              <a:lnSpc>
                <a:spcPts val="6540"/>
              </a:lnSpc>
              <a:buAutoNum type="arabicPeriod" startAt="1"/>
            </a:pPr>
            <a:r>
              <a:rPr lang="en-US" sz="3099">
                <a:solidFill>
                  <a:srgbClr val="1F191A"/>
                </a:solidFill>
                <a:latin typeface="IBM Plex Mono"/>
                <a:ea typeface="IBM Plex Mono"/>
                <a:cs typeface="IBM Plex Mono"/>
                <a:sym typeface="IBM Plex Mono"/>
              </a:rPr>
              <a:t>Random Forest Model</a:t>
            </a:r>
          </a:p>
          <a:p>
            <a:pPr algn="l" marL="669281" indent="-334641" lvl="1">
              <a:lnSpc>
                <a:spcPts val="6540"/>
              </a:lnSpc>
              <a:buAutoNum type="arabicPeriod" startAt="1"/>
            </a:pPr>
            <a:r>
              <a:rPr lang="en-US" sz="3099">
                <a:solidFill>
                  <a:srgbClr val="1F191A"/>
                </a:solidFill>
                <a:latin typeface="IBM Plex Mono"/>
                <a:ea typeface="IBM Plex Mono"/>
                <a:cs typeface="IBM Plex Mono"/>
                <a:sym typeface="IBM Plex Mono"/>
              </a:rPr>
              <a:t>Comparative Analysis</a:t>
            </a:r>
          </a:p>
          <a:p>
            <a:pPr algn="l" marL="669281" indent="-334641" lvl="1">
              <a:lnSpc>
                <a:spcPts val="6540"/>
              </a:lnSpc>
              <a:buAutoNum type="arabicPeriod" startAt="1"/>
            </a:pPr>
            <a:r>
              <a:rPr lang="en-US" sz="3099">
                <a:solidFill>
                  <a:srgbClr val="1F191A"/>
                </a:solidFill>
                <a:latin typeface="IBM Plex Mono"/>
                <a:ea typeface="IBM Plex Mono"/>
                <a:cs typeface="IBM Plex Mono"/>
                <a:sym typeface="IBM Plex Mono"/>
              </a:rPr>
              <a:t>Challenges &amp; Lessons Learned</a:t>
            </a:r>
          </a:p>
          <a:p>
            <a:pPr algn="l" marL="669281" indent="-334641" lvl="1">
              <a:lnSpc>
                <a:spcPts val="6540"/>
              </a:lnSpc>
              <a:buAutoNum type="arabicPeriod" startAt="1"/>
            </a:pPr>
            <a:r>
              <a:rPr lang="en-US" sz="3099">
                <a:solidFill>
                  <a:srgbClr val="1F191A"/>
                </a:solidFill>
                <a:latin typeface="IBM Plex Mono"/>
                <a:ea typeface="IBM Plex Mono"/>
                <a:cs typeface="IBM Plex Mono"/>
                <a:sym typeface="IBM Plex Mono"/>
              </a:rPr>
              <a:t>Conclusion</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255835" y="1104900"/>
            <a:ext cx="10185832"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PROBLEM STATEMENT</a:t>
            </a:r>
          </a:p>
        </p:txBody>
      </p:sp>
      <p:grpSp>
        <p:nvGrpSpPr>
          <p:cNvPr name="Group 3" id="3"/>
          <p:cNvGrpSpPr/>
          <p:nvPr/>
        </p:nvGrpSpPr>
        <p:grpSpPr>
          <a:xfrm rot="0">
            <a:off x="17602200" y="-473017"/>
            <a:ext cx="3086100" cy="11233035"/>
            <a:chOff x="0" y="0"/>
            <a:chExt cx="812800" cy="2958495"/>
          </a:xfrm>
        </p:grpSpPr>
        <p:sp>
          <p:nvSpPr>
            <p:cNvPr name="Freeform 4" id="4"/>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5" id="5"/>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sp>
        <p:nvSpPr>
          <p:cNvPr name="TextBox 6" id="6"/>
          <p:cNvSpPr txBox="true"/>
          <p:nvPr/>
        </p:nvSpPr>
        <p:spPr>
          <a:xfrm rot="0">
            <a:off x="735544" y="2358175"/>
            <a:ext cx="15271181" cy="4938815"/>
          </a:xfrm>
          <a:prstGeom prst="rect">
            <a:avLst/>
          </a:prstGeom>
        </p:spPr>
        <p:txBody>
          <a:bodyPr anchor="t" rtlCol="false" tIns="0" lIns="0" bIns="0" rIns="0">
            <a:spAutoFit/>
          </a:bodyPr>
          <a:lstStyle/>
          <a:p>
            <a:pPr algn="l" marL="690872" indent="-345436" lvl="1">
              <a:lnSpc>
                <a:spcPts val="7999"/>
              </a:lnSpc>
              <a:buFont typeface="Arial"/>
              <a:buChar char="•"/>
            </a:pPr>
            <a:r>
              <a:rPr lang="en-US" sz="3199">
                <a:solidFill>
                  <a:srgbClr val="1F191A"/>
                </a:solidFill>
                <a:latin typeface="Poppins"/>
                <a:ea typeface="Poppins"/>
                <a:cs typeface="Poppins"/>
                <a:sym typeface="Poppins"/>
              </a:rPr>
              <a:t>The objective of this project is to build machine learning models that predict whether a patient has diabetes based on medical information and compare the performance of Logistic Regression and Random Forest.</a:t>
            </a:r>
          </a:p>
          <a:p>
            <a:pPr algn="l" marL="690872" indent="-345436" lvl="1">
              <a:lnSpc>
                <a:spcPts val="7999"/>
              </a:lnSpc>
              <a:buFont typeface="Arial"/>
              <a:buChar char="•"/>
            </a:pPr>
            <a:r>
              <a:rPr lang="en-US" sz="3199">
                <a:solidFill>
                  <a:srgbClr val="1F191A"/>
                </a:solidFill>
                <a:latin typeface="Poppins"/>
                <a:ea typeface="Poppins"/>
                <a:cs typeface="Poppins"/>
                <a:sym typeface="Poppins"/>
              </a:rPr>
              <a:t>Problem Type: </a:t>
            </a:r>
            <a:r>
              <a:rPr lang="en-US" b="true" sz="3199">
                <a:solidFill>
                  <a:srgbClr val="1F191A"/>
                </a:solidFill>
                <a:latin typeface="Poppins Bold"/>
                <a:ea typeface="Poppins Bold"/>
                <a:cs typeface="Poppins Bold"/>
                <a:sym typeface="Poppins Bold"/>
              </a:rPr>
              <a:t>Classification</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7602200" y="-473017"/>
            <a:ext cx="3086100" cy="11233035"/>
            <a:chOff x="0" y="0"/>
            <a:chExt cx="812800" cy="2958495"/>
          </a:xfrm>
        </p:grpSpPr>
        <p:sp>
          <p:nvSpPr>
            <p:cNvPr name="Freeform 3" id="3"/>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4" id="4"/>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sp>
        <p:nvSpPr>
          <p:cNvPr name="TextBox 5" id="5"/>
          <p:cNvSpPr txBox="true"/>
          <p:nvPr/>
        </p:nvSpPr>
        <p:spPr>
          <a:xfrm rot="0">
            <a:off x="685800" y="1900714"/>
            <a:ext cx="16573500" cy="8595836"/>
          </a:xfrm>
          <a:prstGeom prst="rect">
            <a:avLst/>
          </a:prstGeom>
        </p:spPr>
        <p:txBody>
          <a:bodyPr anchor="t" rtlCol="false" tIns="0" lIns="0" bIns="0" rIns="0">
            <a:spAutoFit/>
          </a:bodyPr>
          <a:lstStyle/>
          <a:p>
            <a:pPr algn="l" marL="702928" indent="-351464" lvl="1">
              <a:lnSpc>
                <a:spcPts val="6869"/>
              </a:lnSpc>
              <a:buFont typeface="Arial"/>
              <a:buChar char="•"/>
            </a:pPr>
            <a:r>
              <a:rPr lang="en-US" b="true" sz="3255">
                <a:solidFill>
                  <a:srgbClr val="1F191A"/>
                </a:solidFill>
                <a:latin typeface="Poppins Bold"/>
                <a:ea typeface="Poppins Bold"/>
                <a:cs typeface="Poppins Bold"/>
                <a:sym typeface="Poppins Bold"/>
              </a:rPr>
              <a:t>Dataset Description: </a:t>
            </a:r>
            <a:r>
              <a:rPr lang="en-US" sz="3255">
                <a:solidFill>
                  <a:srgbClr val="1F191A"/>
                </a:solidFill>
                <a:latin typeface="Poppins"/>
                <a:ea typeface="Poppins"/>
                <a:cs typeface="Poppins"/>
                <a:sym typeface="Poppins"/>
              </a:rPr>
              <a:t>This Dataset has 14 features and 1000 rows</a:t>
            </a:r>
          </a:p>
          <a:p>
            <a:pPr algn="l" marL="702928" indent="-351464" lvl="1">
              <a:lnSpc>
                <a:spcPts val="6869"/>
              </a:lnSpc>
              <a:buFont typeface="Arial"/>
              <a:buChar char="•"/>
            </a:pPr>
            <a:r>
              <a:rPr lang="en-US" b="true" sz="3255">
                <a:solidFill>
                  <a:srgbClr val="1F191A"/>
                </a:solidFill>
                <a:latin typeface="Poppins Bold"/>
                <a:ea typeface="Poppins Bold"/>
                <a:cs typeface="Poppins Bold"/>
                <a:sym typeface="Poppins Bold"/>
              </a:rPr>
              <a:t>Source: </a:t>
            </a:r>
            <a:r>
              <a:rPr lang="en-US" sz="3255">
                <a:solidFill>
                  <a:srgbClr val="1F191A"/>
                </a:solidFill>
                <a:latin typeface="Poppins"/>
                <a:ea typeface="Poppins"/>
                <a:cs typeface="Poppins"/>
                <a:sym typeface="Poppins"/>
              </a:rPr>
              <a:t>Kaggle </a:t>
            </a:r>
          </a:p>
          <a:p>
            <a:pPr algn="l" marL="702928" indent="-351464" lvl="1">
              <a:lnSpc>
                <a:spcPts val="6869"/>
              </a:lnSpc>
              <a:buFont typeface="Arial"/>
              <a:buChar char="•"/>
            </a:pPr>
            <a:r>
              <a:rPr lang="en-US" b="true" sz="3255">
                <a:solidFill>
                  <a:srgbClr val="1F191A"/>
                </a:solidFill>
                <a:latin typeface="Poppins Bold"/>
                <a:ea typeface="Poppins Bold"/>
                <a:cs typeface="Poppins Bold"/>
                <a:sym typeface="Poppins Bold"/>
              </a:rPr>
              <a:t>Dataset: </a:t>
            </a:r>
            <a:r>
              <a:rPr lang="en-US" sz="3255">
                <a:solidFill>
                  <a:srgbClr val="1F191A"/>
                </a:solidFill>
                <a:latin typeface="Poppins"/>
                <a:ea typeface="Poppins"/>
                <a:cs typeface="Poppins"/>
                <a:sym typeface="Poppins"/>
              </a:rPr>
              <a:t>Diabetes Prediction Dataset</a:t>
            </a:r>
          </a:p>
          <a:p>
            <a:pPr algn="l">
              <a:lnSpc>
                <a:spcPts val="6869"/>
              </a:lnSpc>
            </a:pPr>
            <a:r>
              <a:rPr lang="en-US" sz="3255" b="true">
                <a:solidFill>
                  <a:srgbClr val="1F191A"/>
                </a:solidFill>
                <a:latin typeface="Poppins Bold"/>
                <a:ea typeface="Poppins Bold"/>
                <a:cs typeface="Poppins Bold"/>
                <a:sym typeface="Poppins Bold"/>
              </a:rPr>
              <a:t>        </a:t>
            </a:r>
            <a:r>
              <a:rPr lang="en-US" sz="3255">
                <a:solidFill>
                  <a:srgbClr val="1F191A"/>
                </a:solidFill>
                <a:latin typeface="Poppins"/>
                <a:ea typeface="Poppins"/>
                <a:cs typeface="Poppins"/>
                <a:sym typeface="Poppins"/>
              </a:rPr>
              <a:t>Target Variable (CLASS):</a:t>
            </a:r>
          </a:p>
          <a:p>
            <a:pPr algn="l">
              <a:lnSpc>
                <a:spcPts val="6869"/>
              </a:lnSpc>
            </a:pPr>
            <a:r>
              <a:rPr lang="en-US" sz="3255">
                <a:solidFill>
                  <a:srgbClr val="1F191A"/>
                </a:solidFill>
                <a:latin typeface="Poppins"/>
                <a:ea typeface="Poppins"/>
                <a:cs typeface="Poppins"/>
                <a:sym typeface="Poppins"/>
              </a:rPr>
              <a:t>        </a:t>
            </a:r>
            <a:r>
              <a:rPr lang="en-US" sz="3255">
                <a:solidFill>
                  <a:srgbClr val="1F191A"/>
                </a:solidFill>
                <a:latin typeface="Poppins"/>
                <a:ea typeface="Poppins"/>
                <a:cs typeface="Poppins"/>
                <a:sym typeface="Poppins"/>
              </a:rPr>
              <a:t>0 = Non-Diabetic</a:t>
            </a:r>
          </a:p>
          <a:p>
            <a:pPr algn="l">
              <a:lnSpc>
                <a:spcPts val="6869"/>
              </a:lnSpc>
            </a:pPr>
            <a:r>
              <a:rPr lang="en-US" sz="3255">
                <a:solidFill>
                  <a:srgbClr val="1F191A"/>
                </a:solidFill>
                <a:latin typeface="Poppins"/>
                <a:ea typeface="Poppins"/>
                <a:cs typeface="Poppins"/>
                <a:sym typeface="Poppins"/>
              </a:rPr>
              <a:t>        </a:t>
            </a:r>
            <a:r>
              <a:rPr lang="en-US" sz="3255">
                <a:solidFill>
                  <a:srgbClr val="1F191A"/>
                </a:solidFill>
                <a:latin typeface="Poppins"/>
                <a:ea typeface="Poppins"/>
                <a:cs typeface="Poppins"/>
                <a:sym typeface="Poppins"/>
              </a:rPr>
              <a:t>1 = Prediabetic</a:t>
            </a:r>
          </a:p>
          <a:p>
            <a:pPr algn="l">
              <a:lnSpc>
                <a:spcPts val="6869"/>
              </a:lnSpc>
            </a:pPr>
            <a:r>
              <a:rPr lang="en-US" sz="3255">
                <a:solidFill>
                  <a:srgbClr val="1F191A"/>
                </a:solidFill>
                <a:latin typeface="Poppins"/>
                <a:ea typeface="Poppins"/>
                <a:cs typeface="Poppins"/>
                <a:sym typeface="Poppins"/>
              </a:rPr>
              <a:t>        </a:t>
            </a:r>
            <a:r>
              <a:rPr lang="en-US" sz="3255">
                <a:solidFill>
                  <a:srgbClr val="1F191A"/>
                </a:solidFill>
                <a:latin typeface="Poppins"/>
                <a:ea typeface="Poppins"/>
                <a:cs typeface="Poppins"/>
                <a:sym typeface="Poppins"/>
              </a:rPr>
              <a:t>2 = Diabetic </a:t>
            </a:r>
          </a:p>
          <a:p>
            <a:pPr algn="l" marL="702928" indent="-351464" lvl="1">
              <a:lnSpc>
                <a:spcPts val="6869"/>
              </a:lnSpc>
              <a:buFont typeface="Arial"/>
              <a:buChar char="•"/>
            </a:pPr>
            <a:r>
              <a:rPr lang="en-US" b="true" sz="3255">
                <a:solidFill>
                  <a:srgbClr val="1F191A"/>
                </a:solidFill>
                <a:latin typeface="Poppins Bold"/>
                <a:ea typeface="Poppins Bold"/>
                <a:cs typeface="Poppins Bold"/>
                <a:sym typeface="Poppins Bold"/>
              </a:rPr>
              <a:t>Key Features:</a:t>
            </a:r>
            <a:r>
              <a:rPr lang="en-US" sz="3255">
                <a:solidFill>
                  <a:srgbClr val="1F191A"/>
                </a:solidFill>
                <a:latin typeface="Poppins"/>
                <a:ea typeface="Poppins"/>
                <a:cs typeface="Poppins"/>
                <a:sym typeface="Poppins"/>
              </a:rPr>
              <a:t> HbA1c, BMI, AGE, Glucose, Urea, Cr (Creatinine), Chol, TG, HDL, LDL, VLDL, Gender.</a:t>
            </a:r>
          </a:p>
          <a:p>
            <a:pPr algn="l">
              <a:lnSpc>
                <a:spcPts val="6869"/>
              </a:lnSpc>
            </a:pPr>
          </a:p>
        </p:txBody>
      </p:sp>
      <p:sp>
        <p:nvSpPr>
          <p:cNvPr name="TextBox 6" id="6"/>
          <p:cNvSpPr txBox="true"/>
          <p:nvPr/>
        </p:nvSpPr>
        <p:spPr>
          <a:xfrm rot="0">
            <a:off x="0" y="819150"/>
            <a:ext cx="10185832"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PROBLEM STATEMENT</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7602200" y="-473017"/>
            <a:ext cx="3086100" cy="11233035"/>
            <a:chOff x="0" y="0"/>
            <a:chExt cx="812800" cy="2958495"/>
          </a:xfrm>
        </p:grpSpPr>
        <p:sp>
          <p:nvSpPr>
            <p:cNvPr name="Freeform 3" id="3"/>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4" id="4"/>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grpSp>
        <p:nvGrpSpPr>
          <p:cNvPr name="Group 5" id="5"/>
          <p:cNvGrpSpPr/>
          <p:nvPr/>
        </p:nvGrpSpPr>
        <p:grpSpPr>
          <a:xfrm rot="0">
            <a:off x="1066086" y="2982162"/>
            <a:ext cx="3529655" cy="2036826"/>
            <a:chOff x="0" y="0"/>
            <a:chExt cx="726267" cy="419100"/>
          </a:xfrm>
        </p:grpSpPr>
        <p:sp>
          <p:nvSpPr>
            <p:cNvPr name="Freeform 6" id="6"/>
            <p:cNvSpPr/>
            <p:nvPr/>
          </p:nvSpPr>
          <p:spPr>
            <a:xfrm flipH="false" flipV="false" rot="0">
              <a:off x="0" y="0"/>
              <a:ext cx="726267" cy="419100"/>
            </a:xfrm>
            <a:custGeom>
              <a:avLst/>
              <a:gdLst/>
              <a:ahLst/>
              <a:cxnLst/>
              <a:rect r="r" b="b" t="t" l="l"/>
              <a:pathLst>
                <a:path h="419100" w="726267">
                  <a:moveTo>
                    <a:pt x="42840" y="0"/>
                  </a:moveTo>
                  <a:lnTo>
                    <a:pt x="683427" y="0"/>
                  </a:lnTo>
                  <a:cubicBezTo>
                    <a:pt x="707087" y="0"/>
                    <a:pt x="726267" y="19180"/>
                    <a:pt x="726267" y="42840"/>
                  </a:cubicBezTo>
                  <a:lnTo>
                    <a:pt x="726267" y="376260"/>
                  </a:lnTo>
                  <a:cubicBezTo>
                    <a:pt x="726267" y="399920"/>
                    <a:pt x="707087" y="419100"/>
                    <a:pt x="683427" y="419100"/>
                  </a:cubicBezTo>
                  <a:lnTo>
                    <a:pt x="42840" y="419100"/>
                  </a:lnTo>
                  <a:cubicBezTo>
                    <a:pt x="19180" y="419100"/>
                    <a:pt x="0" y="399920"/>
                    <a:pt x="0" y="376260"/>
                  </a:cubicBezTo>
                  <a:lnTo>
                    <a:pt x="0" y="42840"/>
                  </a:lnTo>
                  <a:cubicBezTo>
                    <a:pt x="0" y="19180"/>
                    <a:pt x="19180" y="0"/>
                    <a:pt x="42840" y="0"/>
                  </a:cubicBezTo>
                  <a:close/>
                </a:path>
              </a:pathLst>
            </a:custGeom>
            <a:solidFill>
              <a:srgbClr val="C6D8FB"/>
            </a:solidFill>
          </p:spPr>
        </p:sp>
        <p:sp>
          <p:nvSpPr>
            <p:cNvPr name="TextBox 7" id="7"/>
            <p:cNvSpPr txBox="true"/>
            <p:nvPr/>
          </p:nvSpPr>
          <p:spPr>
            <a:xfrm>
              <a:off x="0" y="38100"/>
              <a:ext cx="726267" cy="381000"/>
            </a:xfrm>
            <a:prstGeom prst="rect">
              <a:avLst/>
            </a:prstGeom>
          </p:spPr>
          <p:txBody>
            <a:bodyPr anchor="ctr" rtlCol="false" tIns="50800" lIns="50800" bIns="50800" rIns="50800"/>
            <a:lstStyle/>
            <a:p>
              <a:pPr algn="ctr">
                <a:lnSpc>
                  <a:spcPts val="2513"/>
                </a:lnSpc>
              </a:pPr>
              <a:r>
                <a:rPr lang="en-US" sz="2591" spc="-51">
                  <a:solidFill>
                    <a:srgbClr val="000000"/>
                  </a:solidFill>
                  <a:latin typeface="Poppins"/>
                  <a:ea typeface="Poppins"/>
                  <a:cs typeface="Poppins"/>
                  <a:sym typeface="Poppins"/>
                </a:rPr>
                <a:t>1. Load Dataset</a:t>
              </a:r>
            </a:p>
          </p:txBody>
        </p:sp>
      </p:grpSp>
      <p:grpSp>
        <p:nvGrpSpPr>
          <p:cNvPr name="Group 8" id="8"/>
          <p:cNvGrpSpPr/>
          <p:nvPr/>
        </p:nvGrpSpPr>
        <p:grpSpPr>
          <a:xfrm rot="0">
            <a:off x="5472041" y="2982162"/>
            <a:ext cx="3198152" cy="2036826"/>
            <a:chOff x="0" y="0"/>
            <a:chExt cx="658056" cy="419100"/>
          </a:xfrm>
        </p:grpSpPr>
        <p:sp>
          <p:nvSpPr>
            <p:cNvPr name="Freeform 9" id="9"/>
            <p:cNvSpPr/>
            <p:nvPr/>
          </p:nvSpPr>
          <p:spPr>
            <a:xfrm flipH="false" flipV="false" rot="0">
              <a:off x="0" y="0"/>
              <a:ext cx="658056" cy="419100"/>
            </a:xfrm>
            <a:custGeom>
              <a:avLst/>
              <a:gdLst/>
              <a:ahLst/>
              <a:cxnLst/>
              <a:rect r="r" b="b" t="t" l="l"/>
              <a:pathLst>
                <a:path h="419100" w="658056">
                  <a:moveTo>
                    <a:pt x="47280" y="0"/>
                  </a:moveTo>
                  <a:lnTo>
                    <a:pt x="610776" y="0"/>
                  </a:lnTo>
                  <a:cubicBezTo>
                    <a:pt x="636888" y="0"/>
                    <a:pt x="658056" y="21168"/>
                    <a:pt x="658056" y="47280"/>
                  </a:cubicBezTo>
                  <a:lnTo>
                    <a:pt x="658056" y="371820"/>
                  </a:lnTo>
                  <a:cubicBezTo>
                    <a:pt x="658056" y="397932"/>
                    <a:pt x="636888" y="419100"/>
                    <a:pt x="610776" y="419100"/>
                  </a:cubicBezTo>
                  <a:lnTo>
                    <a:pt x="47280" y="419100"/>
                  </a:lnTo>
                  <a:cubicBezTo>
                    <a:pt x="21168" y="419100"/>
                    <a:pt x="0" y="397932"/>
                    <a:pt x="0" y="371820"/>
                  </a:cubicBezTo>
                  <a:lnTo>
                    <a:pt x="0" y="47280"/>
                  </a:lnTo>
                  <a:cubicBezTo>
                    <a:pt x="0" y="21168"/>
                    <a:pt x="21168" y="0"/>
                    <a:pt x="47280" y="0"/>
                  </a:cubicBezTo>
                  <a:close/>
                </a:path>
              </a:pathLst>
            </a:custGeom>
            <a:solidFill>
              <a:srgbClr val="F179A4"/>
            </a:solidFill>
          </p:spPr>
        </p:sp>
        <p:sp>
          <p:nvSpPr>
            <p:cNvPr name="TextBox 10" id="10"/>
            <p:cNvSpPr txBox="true"/>
            <p:nvPr/>
          </p:nvSpPr>
          <p:spPr>
            <a:xfrm>
              <a:off x="0" y="38100"/>
              <a:ext cx="658056" cy="381000"/>
            </a:xfrm>
            <a:prstGeom prst="rect">
              <a:avLst/>
            </a:prstGeom>
          </p:spPr>
          <p:txBody>
            <a:bodyPr anchor="ctr" rtlCol="false" tIns="50800" lIns="50800" bIns="50800" rIns="50800"/>
            <a:lstStyle/>
            <a:p>
              <a:pPr algn="ctr">
                <a:lnSpc>
                  <a:spcPts val="2513"/>
                </a:lnSpc>
              </a:pPr>
              <a:r>
                <a:rPr lang="en-US" sz="2591" spc="-51">
                  <a:solidFill>
                    <a:srgbClr val="000000"/>
                  </a:solidFill>
                  <a:latin typeface="Poppins"/>
                  <a:ea typeface="Poppins"/>
                  <a:cs typeface="Poppins"/>
                  <a:sym typeface="Poppins"/>
                </a:rPr>
                <a:t> 2. EDA &amp; Cleaning</a:t>
              </a:r>
            </a:p>
          </p:txBody>
        </p:sp>
      </p:grpSp>
      <p:grpSp>
        <p:nvGrpSpPr>
          <p:cNvPr name="Group 11" id="11"/>
          <p:cNvGrpSpPr/>
          <p:nvPr/>
        </p:nvGrpSpPr>
        <p:grpSpPr>
          <a:xfrm rot="0">
            <a:off x="9583466" y="2982162"/>
            <a:ext cx="3198152" cy="2036826"/>
            <a:chOff x="0" y="0"/>
            <a:chExt cx="658056" cy="419100"/>
          </a:xfrm>
        </p:grpSpPr>
        <p:sp>
          <p:nvSpPr>
            <p:cNvPr name="Freeform 12" id="12"/>
            <p:cNvSpPr/>
            <p:nvPr/>
          </p:nvSpPr>
          <p:spPr>
            <a:xfrm flipH="false" flipV="false" rot="0">
              <a:off x="0" y="0"/>
              <a:ext cx="658056" cy="419100"/>
            </a:xfrm>
            <a:custGeom>
              <a:avLst/>
              <a:gdLst/>
              <a:ahLst/>
              <a:cxnLst/>
              <a:rect r="r" b="b" t="t" l="l"/>
              <a:pathLst>
                <a:path h="419100" w="658056">
                  <a:moveTo>
                    <a:pt x="47280" y="0"/>
                  </a:moveTo>
                  <a:lnTo>
                    <a:pt x="610776" y="0"/>
                  </a:lnTo>
                  <a:cubicBezTo>
                    <a:pt x="636888" y="0"/>
                    <a:pt x="658056" y="21168"/>
                    <a:pt x="658056" y="47280"/>
                  </a:cubicBezTo>
                  <a:lnTo>
                    <a:pt x="658056" y="371820"/>
                  </a:lnTo>
                  <a:cubicBezTo>
                    <a:pt x="658056" y="397932"/>
                    <a:pt x="636888" y="419100"/>
                    <a:pt x="610776" y="419100"/>
                  </a:cubicBezTo>
                  <a:lnTo>
                    <a:pt x="47280" y="419100"/>
                  </a:lnTo>
                  <a:cubicBezTo>
                    <a:pt x="21168" y="419100"/>
                    <a:pt x="0" y="397932"/>
                    <a:pt x="0" y="371820"/>
                  </a:cubicBezTo>
                  <a:lnTo>
                    <a:pt x="0" y="47280"/>
                  </a:lnTo>
                  <a:cubicBezTo>
                    <a:pt x="0" y="21168"/>
                    <a:pt x="21168" y="0"/>
                    <a:pt x="47280" y="0"/>
                  </a:cubicBezTo>
                  <a:close/>
                </a:path>
              </a:pathLst>
            </a:custGeom>
            <a:solidFill>
              <a:srgbClr val="9DF48B"/>
            </a:solidFill>
          </p:spPr>
        </p:sp>
        <p:sp>
          <p:nvSpPr>
            <p:cNvPr name="TextBox 13" id="13"/>
            <p:cNvSpPr txBox="true"/>
            <p:nvPr/>
          </p:nvSpPr>
          <p:spPr>
            <a:xfrm>
              <a:off x="0" y="-180975"/>
              <a:ext cx="658056" cy="600075"/>
            </a:xfrm>
            <a:prstGeom prst="rect">
              <a:avLst/>
            </a:prstGeom>
          </p:spPr>
          <p:txBody>
            <a:bodyPr anchor="ctr" rtlCol="false" tIns="50800" lIns="50800" bIns="50800" rIns="50800"/>
            <a:lstStyle/>
            <a:p>
              <a:pPr algn="l" marL="559409" indent="-279704" lvl="1">
                <a:lnSpc>
                  <a:spcPts val="4819"/>
                </a:lnSpc>
                <a:buAutoNum type="arabicPeriod" startAt="1"/>
              </a:pPr>
              <a:r>
                <a:rPr lang="en-US" sz="2591" spc="-51">
                  <a:solidFill>
                    <a:srgbClr val="000000"/>
                  </a:solidFill>
                  <a:latin typeface="Poppins"/>
                  <a:ea typeface="Poppins"/>
                  <a:cs typeface="Poppins"/>
                  <a:sym typeface="Poppins"/>
                </a:rPr>
                <a:t>Preprocessing</a:t>
              </a:r>
            </a:p>
            <a:p>
              <a:pPr algn="ctr">
                <a:lnSpc>
                  <a:spcPts val="2975"/>
                </a:lnSpc>
              </a:pPr>
              <a:r>
                <a:rPr lang="en-US" sz="1599" spc="-31">
                  <a:solidFill>
                    <a:srgbClr val="000000"/>
                  </a:solidFill>
                  <a:latin typeface="Poppins"/>
                  <a:ea typeface="Poppins"/>
                  <a:cs typeface="Poppins"/>
                  <a:sym typeface="Poppins"/>
                </a:rPr>
                <a:t>StandardScaler,LabelEncoder</a:t>
              </a:r>
            </a:p>
          </p:txBody>
        </p:sp>
      </p:grpSp>
      <p:grpSp>
        <p:nvGrpSpPr>
          <p:cNvPr name="Group 14" id="14"/>
          <p:cNvGrpSpPr/>
          <p:nvPr/>
        </p:nvGrpSpPr>
        <p:grpSpPr>
          <a:xfrm rot="0">
            <a:off x="13664588" y="2982162"/>
            <a:ext cx="3352278" cy="2036826"/>
            <a:chOff x="0" y="0"/>
            <a:chExt cx="689769" cy="419100"/>
          </a:xfrm>
        </p:grpSpPr>
        <p:sp>
          <p:nvSpPr>
            <p:cNvPr name="Freeform 15" id="15"/>
            <p:cNvSpPr/>
            <p:nvPr/>
          </p:nvSpPr>
          <p:spPr>
            <a:xfrm flipH="false" flipV="false" rot="0">
              <a:off x="0" y="0"/>
              <a:ext cx="689769" cy="419100"/>
            </a:xfrm>
            <a:custGeom>
              <a:avLst/>
              <a:gdLst/>
              <a:ahLst/>
              <a:cxnLst/>
              <a:rect r="r" b="b" t="t" l="l"/>
              <a:pathLst>
                <a:path h="419100" w="689769">
                  <a:moveTo>
                    <a:pt x="45106" y="0"/>
                  </a:moveTo>
                  <a:lnTo>
                    <a:pt x="644663" y="0"/>
                  </a:lnTo>
                  <a:cubicBezTo>
                    <a:pt x="669574" y="0"/>
                    <a:pt x="689769" y="20195"/>
                    <a:pt x="689769" y="45106"/>
                  </a:cubicBezTo>
                  <a:lnTo>
                    <a:pt x="689769" y="373994"/>
                  </a:lnTo>
                  <a:cubicBezTo>
                    <a:pt x="689769" y="385957"/>
                    <a:pt x="685017" y="397430"/>
                    <a:pt x="676558" y="405889"/>
                  </a:cubicBezTo>
                  <a:cubicBezTo>
                    <a:pt x="668099" y="414348"/>
                    <a:pt x="656626" y="419100"/>
                    <a:pt x="644663" y="419100"/>
                  </a:cubicBezTo>
                  <a:lnTo>
                    <a:pt x="45106" y="419100"/>
                  </a:lnTo>
                  <a:cubicBezTo>
                    <a:pt x="33143" y="419100"/>
                    <a:pt x="21670" y="414348"/>
                    <a:pt x="13211" y="405889"/>
                  </a:cubicBezTo>
                  <a:cubicBezTo>
                    <a:pt x="4752" y="397430"/>
                    <a:pt x="0" y="385957"/>
                    <a:pt x="0" y="373994"/>
                  </a:cubicBezTo>
                  <a:lnTo>
                    <a:pt x="0" y="45106"/>
                  </a:lnTo>
                  <a:cubicBezTo>
                    <a:pt x="0" y="33143"/>
                    <a:pt x="4752" y="21670"/>
                    <a:pt x="13211" y="13211"/>
                  </a:cubicBezTo>
                  <a:cubicBezTo>
                    <a:pt x="21670" y="4752"/>
                    <a:pt x="33143" y="0"/>
                    <a:pt x="45106" y="0"/>
                  </a:cubicBezTo>
                  <a:close/>
                </a:path>
              </a:pathLst>
            </a:custGeom>
            <a:solidFill>
              <a:srgbClr val="D9D9D9"/>
            </a:solidFill>
          </p:spPr>
        </p:sp>
        <p:sp>
          <p:nvSpPr>
            <p:cNvPr name="TextBox 16" id="16"/>
            <p:cNvSpPr txBox="true"/>
            <p:nvPr/>
          </p:nvSpPr>
          <p:spPr>
            <a:xfrm>
              <a:off x="0" y="-180975"/>
              <a:ext cx="689769" cy="600075"/>
            </a:xfrm>
            <a:prstGeom prst="rect">
              <a:avLst/>
            </a:prstGeom>
          </p:spPr>
          <p:txBody>
            <a:bodyPr anchor="ctr" rtlCol="false" tIns="50800" lIns="50800" bIns="50800" rIns="50800"/>
            <a:lstStyle/>
            <a:p>
              <a:pPr algn="ctr">
                <a:lnSpc>
                  <a:spcPts val="4819"/>
                </a:lnSpc>
              </a:pPr>
              <a:r>
                <a:rPr lang="en-US" sz="2591" spc="-51">
                  <a:solidFill>
                    <a:srgbClr val="000000"/>
                  </a:solidFill>
                  <a:latin typeface="Poppins"/>
                  <a:ea typeface="Poppins"/>
                  <a:cs typeface="Poppins"/>
                  <a:sym typeface="Poppins"/>
                </a:rPr>
                <a:t>4. Hyperparameter Tuning</a:t>
              </a:r>
            </a:p>
            <a:p>
              <a:pPr algn="ctr">
                <a:lnSpc>
                  <a:spcPts val="2975"/>
                </a:lnSpc>
              </a:pPr>
              <a:r>
                <a:rPr lang="en-US" sz="1599" spc="-31">
                  <a:solidFill>
                    <a:srgbClr val="000000"/>
                  </a:solidFill>
                  <a:latin typeface="Poppins"/>
                  <a:ea typeface="Poppins"/>
                  <a:cs typeface="Poppins"/>
                  <a:sym typeface="Poppins"/>
                </a:rPr>
                <a:t>G</a:t>
              </a:r>
              <a:r>
                <a:rPr lang="en-US" sz="1599" spc="-31">
                  <a:solidFill>
                    <a:srgbClr val="000000"/>
                  </a:solidFill>
                  <a:latin typeface="Poppins"/>
                  <a:ea typeface="Poppins"/>
                  <a:cs typeface="Poppins"/>
                  <a:sym typeface="Poppins"/>
                </a:rPr>
                <a:t>ridSearch</a:t>
              </a:r>
            </a:p>
          </p:txBody>
        </p:sp>
      </p:grpSp>
      <p:grpSp>
        <p:nvGrpSpPr>
          <p:cNvPr name="Group 17" id="17"/>
          <p:cNvGrpSpPr/>
          <p:nvPr/>
        </p:nvGrpSpPr>
        <p:grpSpPr>
          <a:xfrm rot="0">
            <a:off x="3391144" y="6643688"/>
            <a:ext cx="3892871" cy="2036826"/>
            <a:chOff x="0" y="0"/>
            <a:chExt cx="801002" cy="419100"/>
          </a:xfrm>
        </p:grpSpPr>
        <p:sp>
          <p:nvSpPr>
            <p:cNvPr name="Freeform 18" id="18"/>
            <p:cNvSpPr/>
            <p:nvPr/>
          </p:nvSpPr>
          <p:spPr>
            <a:xfrm flipH="false" flipV="false" rot="0">
              <a:off x="0" y="0"/>
              <a:ext cx="801002" cy="419100"/>
            </a:xfrm>
            <a:custGeom>
              <a:avLst/>
              <a:gdLst/>
              <a:ahLst/>
              <a:cxnLst/>
              <a:rect r="r" b="b" t="t" l="l"/>
              <a:pathLst>
                <a:path h="419100" w="801002">
                  <a:moveTo>
                    <a:pt x="38843" y="0"/>
                  </a:moveTo>
                  <a:lnTo>
                    <a:pt x="762160" y="0"/>
                  </a:lnTo>
                  <a:cubicBezTo>
                    <a:pt x="772461" y="0"/>
                    <a:pt x="782341" y="4092"/>
                    <a:pt x="789625" y="11377"/>
                  </a:cubicBezTo>
                  <a:cubicBezTo>
                    <a:pt x="796910" y="18661"/>
                    <a:pt x="801002" y="28541"/>
                    <a:pt x="801002" y="38843"/>
                  </a:cubicBezTo>
                  <a:lnTo>
                    <a:pt x="801002" y="380257"/>
                  </a:lnTo>
                  <a:cubicBezTo>
                    <a:pt x="801002" y="401710"/>
                    <a:pt x="783612" y="419100"/>
                    <a:pt x="762160" y="419100"/>
                  </a:cubicBezTo>
                  <a:lnTo>
                    <a:pt x="38843" y="419100"/>
                  </a:lnTo>
                  <a:cubicBezTo>
                    <a:pt x="28541" y="419100"/>
                    <a:pt x="18661" y="415008"/>
                    <a:pt x="11377" y="407723"/>
                  </a:cubicBezTo>
                  <a:cubicBezTo>
                    <a:pt x="4092" y="400439"/>
                    <a:pt x="0" y="390559"/>
                    <a:pt x="0" y="380257"/>
                  </a:cubicBezTo>
                  <a:lnTo>
                    <a:pt x="0" y="38843"/>
                  </a:lnTo>
                  <a:cubicBezTo>
                    <a:pt x="0" y="28541"/>
                    <a:pt x="4092" y="18661"/>
                    <a:pt x="11377" y="11377"/>
                  </a:cubicBezTo>
                  <a:cubicBezTo>
                    <a:pt x="18661" y="4092"/>
                    <a:pt x="28541" y="0"/>
                    <a:pt x="38843" y="0"/>
                  </a:cubicBezTo>
                  <a:close/>
                </a:path>
              </a:pathLst>
            </a:custGeom>
            <a:solidFill>
              <a:srgbClr val="E59372"/>
            </a:solidFill>
          </p:spPr>
        </p:sp>
        <p:sp>
          <p:nvSpPr>
            <p:cNvPr name="TextBox 19" id="19"/>
            <p:cNvSpPr txBox="true"/>
            <p:nvPr/>
          </p:nvSpPr>
          <p:spPr>
            <a:xfrm>
              <a:off x="0" y="-180975"/>
              <a:ext cx="801002" cy="600075"/>
            </a:xfrm>
            <a:prstGeom prst="rect">
              <a:avLst/>
            </a:prstGeom>
          </p:spPr>
          <p:txBody>
            <a:bodyPr anchor="ctr" rtlCol="false" tIns="50800" lIns="50800" bIns="50800" rIns="50800"/>
            <a:lstStyle/>
            <a:p>
              <a:pPr algn="ctr">
                <a:lnSpc>
                  <a:spcPts val="4871"/>
                </a:lnSpc>
              </a:pPr>
              <a:r>
                <a:rPr lang="en-US" sz="2591" spc="-51">
                  <a:solidFill>
                    <a:srgbClr val="000000"/>
                  </a:solidFill>
                  <a:latin typeface="Poppins"/>
                  <a:ea typeface="Poppins"/>
                  <a:cs typeface="Poppins"/>
                  <a:sym typeface="Poppins"/>
                </a:rPr>
                <a:t> </a:t>
              </a:r>
              <a:r>
                <a:rPr lang="en-US" sz="2591" spc="-51">
                  <a:solidFill>
                    <a:srgbClr val="000000"/>
                  </a:solidFill>
                  <a:latin typeface="Poppins"/>
                  <a:ea typeface="Poppins"/>
                  <a:cs typeface="Poppins"/>
                  <a:sym typeface="Poppins"/>
                </a:rPr>
                <a:t>5</a:t>
              </a:r>
              <a:r>
                <a:rPr lang="en-US" sz="2591" spc="-51">
                  <a:solidFill>
                    <a:srgbClr val="000000"/>
                  </a:solidFill>
                  <a:latin typeface="Poppins"/>
                  <a:ea typeface="Poppins"/>
                  <a:cs typeface="Poppins"/>
                  <a:sym typeface="Poppins"/>
                </a:rPr>
                <a:t>. Model Evaluation</a:t>
              </a:r>
            </a:p>
            <a:p>
              <a:pPr algn="ctr">
                <a:lnSpc>
                  <a:spcPts val="3007"/>
                </a:lnSpc>
              </a:pPr>
              <a:r>
                <a:rPr lang="en-US" sz="1599" spc="-31">
                  <a:solidFill>
                    <a:srgbClr val="000000"/>
                  </a:solidFill>
                  <a:latin typeface="Poppins"/>
                  <a:ea typeface="Poppins"/>
                  <a:cs typeface="Poppins"/>
                  <a:sym typeface="Poppins"/>
                </a:rPr>
                <a:t>Acurracy,</a:t>
              </a:r>
              <a:r>
                <a:rPr lang="en-US" sz="1599" spc="-31">
                  <a:solidFill>
                    <a:srgbClr val="000000"/>
                  </a:solidFill>
                  <a:latin typeface="Poppins"/>
                  <a:ea typeface="Poppins"/>
                  <a:cs typeface="Poppins"/>
                  <a:sym typeface="Poppins"/>
                </a:rPr>
                <a:t>Precision, Recall, F1-Score</a:t>
              </a:r>
            </a:p>
          </p:txBody>
        </p:sp>
      </p:grpSp>
      <p:grpSp>
        <p:nvGrpSpPr>
          <p:cNvPr name="Group 20" id="20"/>
          <p:cNvGrpSpPr/>
          <p:nvPr/>
        </p:nvGrpSpPr>
        <p:grpSpPr>
          <a:xfrm rot="0">
            <a:off x="9610725" y="6643688"/>
            <a:ext cx="4004922" cy="2036826"/>
            <a:chOff x="0" y="0"/>
            <a:chExt cx="824058" cy="419100"/>
          </a:xfrm>
        </p:grpSpPr>
        <p:sp>
          <p:nvSpPr>
            <p:cNvPr name="Freeform 21" id="21"/>
            <p:cNvSpPr/>
            <p:nvPr/>
          </p:nvSpPr>
          <p:spPr>
            <a:xfrm flipH="false" flipV="false" rot="0">
              <a:off x="0" y="0"/>
              <a:ext cx="824058" cy="419100"/>
            </a:xfrm>
            <a:custGeom>
              <a:avLst/>
              <a:gdLst/>
              <a:ahLst/>
              <a:cxnLst/>
              <a:rect r="r" b="b" t="t" l="l"/>
              <a:pathLst>
                <a:path h="419100" w="824058">
                  <a:moveTo>
                    <a:pt x="37756" y="0"/>
                  </a:moveTo>
                  <a:lnTo>
                    <a:pt x="786302" y="0"/>
                  </a:lnTo>
                  <a:cubicBezTo>
                    <a:pt x="807154" y="0"/>
                    <a:pt x="824058" y="16904"/>
                    <a:pt x="824058" y="37756"/>
                  </a:cubicBezTo>
                  <a:lnTo>
                    <a:pt x="824058" y="381344"/>
                  </a:lnTo>
                  <a:cubicBezTo>
                    <a:pt x="824058" y="402196"/>
                    <a:pt x="807154" y="419100"/>
                    <a:pt x="786302" y="419100"/>
                  </a:cubicBezTo>
                  <a:lnTo>
                    <a:pt x="37756" y="419100"/>
                  </a:lnTo>
                  <a:cubicBezTo>
                    <a:pt x="16904" y="419100"/>
                    <a:pt x="0" y="402196"/>
                    <a:pt x="0" y="381344"/>
                  </a:cubicBezTo>
                  <a:lnTo>
                    <a:pt x="0" y="37756"/>
                  </a:lnTo>
                  <a:cubicBezTo>
                    <a:pt x="0" y="16904"/>
                    <a:pt x="16904" y="0"/>
                    <a:pt x="37756" y="0"/>
                  </a:cubicBezTo>
                  <a:close/>
                </a:path>
              </a:pathLst>
            </a:custGeom>
            <a:solidFill>
              <a:srgbClr val="E2A9F1"/>
            </a:solidFill>
          </p:spPr>
        </p:sp>
        <p:sp>
          <p:nvSpPr>
            <p:cNvPr name="TextBox 22" id="22"/>
            <p:cNvSpPr txBox="true"/>
            <p:nvPr/>
          </p:nvSpPr>
          <p:spPr>
            <a:xfrm>
              <a:off x="0" y="-180975"/>
              <a:ext cx="824058" cy="600075"/>
            </a:xfrm>
            <a:prstGeom prst="rect">
              <a:avLst/>
            </a:prstGeom>
          </p:spPr>
          <p:txBody>
            <a:bodyPr anchor="ctr" rtlCol="false" tIns="50800" lIns="50800" bIns="50800" rIns="50800"/>
            <a:lstStyle/>
            <a:p>
              <a:pPr algn="ctr">
                <a:lnSpc>
                  <a:spcPts val="4871"/>
                </a:lnSpc>
              </a:pPr>
              <a:r>
                <a:rPr lang="en-US" sz="2591" spc="-51">
                  <a:solidFill>
                    <a:srgbClr val="000000"/>
                  </a:solidFill>
                  <a:latin typeface="Poppins"/>
                  <a:ea typeface="Poppins"/>
                  <a:cs typeface="Poppins"/>
                  <a:sym typeface="Poppins"/>
                </a:rPr>
                <a:t> 6. Model Deployment</a:t>
              </a:r>
            </a:p>
            <a:p>
              <a:pPr algn="ctr">
                <a:lnSpc>
                  <a:spcPts val="3007"/>
                </a:lnSpc>
              </a:pPr>
              <a:r>
                <a:rPr lang="en-US" sz="1599" spc="-31">
                  <a:solidFill>
                    <a:srgbClr val="000000"/>
                  </a:solidFill>
                  <a:latin typeface="Poppins"/>
                  <a:ea typeface="Poppins"/>
                  <a:cs typeface="Poppins"/>
                  <a:sym typeface="Poppins"/>
                </a:rPr>
                <a:t>FastAPI, Streamlit</a:t>
              </a:r>
            </a:p>
          </p:txBody>
        </p:sp>
      </p:grpSp>
      <p:sp>
        <p:nvSpPr>
          <p:cNvPr name="TextBox 23" id="23"/>
          <p:cNvSpPr txBox="true"/>
          <p:nvPr/>
        </p:nvSpPr>
        <p:spPr>
          <a:xfrm rot="0">
            <a:off x="533011" y="1104900"/>
            <a:ext cx="10185832"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PROJECT WORKFLOW</a:t>
            </a:r>
          </a:p>
        </p:txBody>
      </p:sp>
      <p:sp>
        <p:nvSpPr>
          <p:cNvPr name="AutoShape 24" id="24"/>
          <p:cNvSpPr/>
          <p:nvPr/>
        </p:nvSpPr>
        <p:spPr>
          <a:xfrm flipV="true">
            <a:off x="4701111" y="4019625"/>
            <a:ext cx="665562" cy="0"/>
          </a:xfrm>
          <a:prstGeom prst="line">
            <a:avLst/>
          </a:prstGeom>
          <a:ln cap="flat" w="38100">
            <a:solidFill>
              <a:srgbClr val="000000"/>
            </a:solidFill>
            <a:prstDash val="solid"/>
            <a:headEnd type="none" len="sm" w="sm"/>
            <a:tailEnd type="arrow" len="sm" w="med"/>
          </a:ln>
        </p:spPr>
      </p:sp>
      <p:sp>
        <p:nvSpPr>
          <p:cNvPr name="AutoShape 25" id="25"/>
          <p:cNvSpPr/>
          <p:nvPr/>
        </p:nvSpPr>
        <p:spPr>
          <a:xfrm flipV="true">
            <a:off x="8794048" y="4038675"/>
            <a:ext cx="665562" cy="0"/>
          </a:xfrm>
          <a:prstGeom prst="line">
            <a:avLst/>
          </a:prstGeom>
          <a:ln cap="flat" w="38100">
            <a:solidFill>
              <a:srgbClr val="000000"/>
            </a:solidFill>
            <a:prstDash val="solid"/>
            <a:headEnd type="none" len="sm" w="sm"/>
            <a:tailEnd type="arrow" len="sm" w="med"/>
          </a:ln>
        </p:spPr>
      </p:sp>
      <p:sp>
        <p:nvSpPr>
          <p:cNvPr name="AutoShape 26" id="26"/>
          <p:cNvSpPr/>
          <p:nvPr/>
        </p:nvSpPr>
        <p:spPr>
          <a:xfrm flipV="true">
            <a:off x="12890322" y="3981525"/>
            <a:ext cx="665562" cy="0"/>
          </a:xfrm>
          <a:prstGeom prst="line">
            <a:avLst/>
          </a:prstGeom>
          <a:ln cap="flat" w="38100">
            <a:solidFill>
              <a:srgbClr val="000000"/>
            </a:solidFill>
            <a:prstDash val="solid"/>
            <a:headEnd type="none" len="sm" w="sm"/>
            <a:tailEnd type="arrow" len="sm" w="med"/>
          </a:ln>
        </p:spPr>
      </p:sp>
      <p:sp>
        <p:nvSpPr>
          <p:cNvPr name="AutoShape 27" id="27"/>
          <p:cNvSpPr/>
          <p:nvPr/>
        </p:nvSpPr>
        <p:spPr>
          <a:xfrm flipV="true">
            <a:off x="7747512" y="7662101"/>
            <a:ext cx="1396488" cy="0"/>
          </a:xfrm>
          <a:prstGeom prst="line">
            <a:avLst/>
          </a:prstGeom>
          <a:ln cap="flat" w="38100">
            <a:solidFill>
              <a:srgbClr val="000000"/>
            </a:solidFill>
            <a:prstDash val="solid"/>
            <a:headEnd type="none" len="sm" w="sm"/>
            <a:tailEnd type="arrow" len="sm" w="med"/>
          </a:ln>
        </p:spPr>
      </p:sp>
      <p:sp>
        <p:nvSpPr>
          <p:cNvPr name="TextBox 28" id="2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7602200" y="-473017"/>
            <a:ext cx="3086100" cy="11233035"/>
            <a:chOff x="0" y="0"/>
            <a:chExt cx="812800" cy="2958495"/>
          </a:xfrm>
        </p:grpSpPr>
        <p:sp>
          <p:nvSpPr>
            <p:cNvPr name="Freeform 3" id="3"/>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4" id="4"/>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sp>
        <p:nvSpPr>
          <p:cNvPr name="TextBox 5" id="5"/>
          <p:cNvSpPr txBox="true"/>
          <p:nvPr/>
        </p:nvSpPr>
        <p:spPr>
          <a:xfrm rot="0">
            <a:off x="1082001" y="1916401"/>
            <a:ext cx="15271181" cy="941921"/>
          </a:xfrm>
          <a:prstGeom prst="rect">
            <a:avLst/>
          </a:prstGeom>
        </p:spPr>
        <p:txBody>
          <a:bodyPr anchor="t" rtlCol="false" tIns="0" lIns="0" bIns="0" rIns="0">
            <a:spAutoFit/>
          </a:bodyPr>
          <a:lstStyle/>
          <a:p>
            <a:pPr algn="l" marL="820409" indent="-410205" lvl="1">
              <a:lnSpc>
                <a:spcPts val="8017"/>
              </a:lnSpc>
              <a:buFont typeface="Arial"/>
              <a:buChar char="•"/>
            </a:pPr>
            <a:r>
              <a:rPr lang="en-US" b="true" sz="3799">
                <a:solidFill>
                  <a:srgbClr val="1F191A"/>
                </a:solidFill>
                <a:latin typeface="Poppins Bold"/>
                <a:ea typeface="Poppins Bold"/>
                <a:cs typeface="Poppins Bold"/>
                <a:sym typeface="Poppins Bold"/>
              </a:rPr>
              <a:t>Features</a:t>
            </a:r>
          </a:p>
        </p:txBody>
      </p:sp>
      <p:graphicFrame>
        <p:nvGraphicFramePr>
          <p:cNvPr name="Table 6" id="6"/>
          <p:cNvGraphicFramePr>
            <a:graphicFrameLocks noGrp="true"/>
          </p:cNvGraphicFramePr>
          <p:nvPr/>
        </p:nvGraphicFramePr>
        <p:xfrm>
          <a:off x="1082001" y="3341389"/>
          <a:ext cx="13079305" cy="5725785"/>
        </p:xfrm>
        <a:graphic>
          <a:graphicData uri="http://schemas.openxmlformats.org/drawingml/2006/table">
            <a:tbl>
              <a:tblPr/>
              <a:tblGrid>
                <a:gridCol w="2092854"/>
                <a:gridCol w="1734632"/>
                <a:gridCol w="9251819"/>
              </a:tblGrid>
              <a:tr h="1026612">
                <a:tc>
                  <a:txBody>
                    <a:bodyPr anchor="t" rtlCol="false"/>
                    <a:lstStyle/>
                    <a:p>
                      <a:pPr algn="ctr">
                        <a:lnSpc>
                          <a:spcPts val="2227"/>
                        </a:lnSpc>
                        <a:defRPr/>
                      </a:pPr>
                      <a:r>
                        <a:rPr lang="en-US" sz="1591" b="true">
                          <a:solidFill>
                            <a:srgbClr val="000000"/>
                          </a:solidFill>
                          <a:latin typeface="Poppins Bold"/>
                          <a:ea typeface="Poppins Bold"/>
                          <a:cs typeface="Poppins Bold"/>
                          <a:sym typeface="Poppins Bold"/>
                        </a:rPr>
                        <a:t>Column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b="true">
                          <a:solidFill>
                            <a:srgbClr val="000000"/>
                          </a:solidFill>
                          <a:latin typeface="Poppins Bold"/>
                          <a:ea typeface="Poppins Bold"/>
                          <a:cs typeface="Poppins Bold"/>
                          <a:sym typeface="Poppins Bold"/>
                        </a:rPr>
                        <a:t>Data type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b="true">
                          <a:solidFill>
                            <a:srgbClr val="000000"/>
                          </a:solidFill>
                          <a:latin typeface="Poppins Bold"/>
                          <a:ea typeface="Poppins Bold"/>
                          <a:cs typeface="Poppins Bold"/>
                          <a:sym typeface="Poppins Bold"/>
                        </a:rPr>
                        <a:t>Description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93124">
                <a:tc>
                  <a:txBody>
                    <a:bodyPr anchor="t" rtlCol="false"/>
                    <a:lstStyle/>
                    <a:p>
                      <a:pPr algn="ctr">
                        <a:lnSpc>
                          <a:spcPts val="2227"/>
                        </a:lnSpc>
                        <a:defRPr/>
                      </a:pPr>
                      <a:r>
                        <a:rPr lang="en-US" sz="1591">
                          <a:solidFill>
                            <a:srgbClr val="000000"/>
                          </a:solidFill>
                          <a:latin typeface="Poppins"/>
                          <a:ea typeface="Poppins"/>
                          <a:cs typeface="Poppins"/>
                          <a:sym typeface="Poppins"/>
                        </a:rPr>
                        <a:t>ID</a:t>
                      </a:r>
                      <a:endParaRPr lang="en-US" sz="1100"/>
                    </a:p>
                    <a:p>
                      <a:pPr algn="ctr">
                        <a:lnSpc>
                          <a:spcPts val="2227"/>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int64</a:t>
                      </a:r>
                      <a:endParaRPr lang="en-US" sz="1100"/>
                    </a:p>
                    <a:p>
                      <a:pPr algn="ctr">
                        <a:lnSpc>
                          <a:spcPts val="2227"/>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Unique patient identifier</a:t>
                      </a:r>
                      <a:endParaRPr lang="en-US" sz="1100"/>
                    </a:p>
                    <a:p>
                      <a:pPr algn="ctr">
                        <a:lnSpc>
                          <a:spcPts val="2227"/>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7795">
                <a:tc>
                  <a:txBody>
                    <a:bodyPr anchor="t" rtlCol="false"/>
                    <a:lstStyle/>
                    <a:p>
                      <a:pPr algn="ctr">
                        <a:lnSpc>
                          <a:spcPts val="2227"/>
                        </a:lnSpc>
                        <a:defRPr/>
                      </a:pPr>
                      <a:r>
                        <a:rPr lang="en-US" sz="1591">
                          <a:solidFill>
                            <a:srgbClr val="000000"/>
                          </a:solidFill>
                          <a:latin typeface="Poppins"/>
                          <a:ea typeface="Poppins"/>
                          <a:cs typeface="Poppins"/>
                          <a:sym typeface="Poppins"/>
                        </a:rPr>
                        <a:t>No_Pation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int64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Patient number/record ID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1857">
                <a:tc>
                  <a:txBody>
                    <a:bodyPr anchor="t" rtlCol="false"/>
                    <a:lstStyle/>
                    <a:p>
                      <a:pPr algn="ctr">
                        <a:lnSpc>
                          <a:spcPts val="2227"/>
                        </a:lnSpc>
                        <a:defRPr/>
                      </a:pPr>
                      <a:r>
                        <a:rPr lang="en-US" sz="1591">
                          <a:solidFill>
                            <a:srgbClr val="000000"/>
                          </a:solidFill>
                          <a:latin typeface="Poppins"/>
                          <a:ea typeface="Poppins"/>
                          <a:cs typeface="Poppins"/>
                          <a:sym typeface="Poppins"/>
                        </a:rPr>
                        <a:t>Gender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object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Male or Female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8199">
                <a:tc>
                  <a:txBody>
                    <a:bodyPr anchor="t" rtlCol="false"/>
                    <a:lstStyle/>
                    <a:p>
                      <a:pPr algn="ctr">
                        <a:lnSpc>
                          <a:spcPts val="2227"/>
                        </a:lnSpc>
                        <a:defRPr/>
                      </a:pPr>
                      <a:r>
                        <a:rPr lang="en-US" sz="1591">
                          <a:solidFill>
                            <a:srgbClr val="000000"/>
                          </a:solidFill>
                          <a:latin typeface="Poppins"/>
                          <a:ea typeface="Poppins"/>
                          <a:cs typeface="Poppins"/>
                          <a:sym typeface="Poppins"/>
                        </a:rPr>
                        <a:t>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int64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Patient's 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8199">
                <a:tc>
                  <a:txBody>
                    <a:bodyPr anchor="t" rtlCol="false"/>
                    <a:lstStyle/>
                    <a:p>
                      <a:pPr algn="ctr">
                        <a:lnSpc>
                          <a:spcPts val="2227"/>
                        </a:lnSpc>
                        <a:defRPr/>
                      </a:pPr>
                      <a:r>
                        <a:rPr lang="en-US" sz="1591">
                          <a:solidFill>
                            <a:srgbClr val="000000"/>
                          </a:solidFill>
                          <a:latin typeface="Poppins"/>
                          <a:ea typeface="Poppins"/>
                          <a:cs typeface="Poppins"/>
                          <a:sym typeface="Poppins"/>
                        </a:rPr>
                        <a:t>Urea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float64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Blood urea level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445556" y="1064459"/>
            <a:ext cx="13916906"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EXPLORATORY DATA ANALYSIS (EDA)</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7602200" y="-473017"/>
            <a:ext cx="3086100" cy="11233035"/>
            <a:chOff x="0" y="0"/>
            <a:chExt cx="812800" cy="2958495"/>
          </a:xfrm>
        </p:grpSpPr>
        <p:sp>
          <p:nvSpPr>
            <p:cNvPr name="Freeform 3" id="3"/>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4" id="4"/>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sp>
        <p:nvSpPr>
          <p:cNvPr name="TextBox 5" id="5"/>
          <p:cNvSpPr txBox="true"/>
          <p:nvPr/>
        </p:nvSpPr>
        <p:spPr>
          <a:xfrm rot="0">
            <a:off x="1082001" y="1916401"/>
            <a:ext cx="15271181" cy="941921"/>
          </a:xfrm>
          <a:prstGeom prst="rect">
            <a:avLst/>
          </a:prstGeom>
        </p:spPr>
        <p:txBody>
          <a:bodyPr anchor="t" rtlCol="false" tIns="0" lIns="0" bIns="0" rIns="0">
            <a:spAutoFit/>
          </a:bodyPr>
          <a:lstStyle/>
          <a:p>
            <a:pPr algn="l" marL="820409" indent="-410205" lvl="1">
              <a:lnSpc>
                <a:spcPts val="8017"/>
              </a:lnSpc>
              <a:buFont typeface="Arial"/>
              <a:buChar char="•"/>
            </a:pPr>
            <a:r>
              <a:rPr lang="en-US" b="true" sz="3799">
                <a:solidFill>
                  <a:srgbClr val="1F191A"/>
                </a:solidFill>
                <a:latin typeface="Poppins Bold"/>
                <a:ea typeface="Poppins Bold"/>
                <a:cs typeface="Poppins Bold"/>
                <a:sym typeface="Poppins Bold"/>
              </a:rPr>
              <a:t>Features</a:t>
            </a:r>
          </a:p>
        </p:txBody>
      </p:sp>
      <p:graphicFrame>
        <p:nvGraphicFramePr>
          <p:cNvPr name="Table 6" id="6"/>
          <p:cNvGraphicFramePr>
            <a:graphicFrameLocks noGrp="true"/>
          </p:cNvGraphicFramePr>
          <p:nvPr/>
        </p:nvGraphicFramePr>
        <p:xfrm>
          <a:off x="1082001" y="3341389"/>
          <a:ext cx="13079305" cy="5725785"/>
        </p:xfrm>
        <a:graphic>
          <a:graphicData uri="http://schemas.openxmlformats.org/drawingml/2006/table">
            <a:tbl>
              <a:tblPr/>
              <a:tblGrid>
                <a:gridCol w="2092854"/>
                <a:gridCol w="1734632"/>
                <a:gridCol w="9251819"/>
              </a:tblGrid>
              <a:tr h="1026612">
                <a:tc>
                  <a:txBody>
                    <a:bodyPr anchor="t" rtlCol="false"/>
                    <a:lstStyle/>
                    <a:p>
                      <a:pPr algn="ctr">
                        <a:lnSpc>
                          <a:spcPts val="2227"/>
                        </a:lnSpc>
                        <a:defRPr/>
                      </a:pPr>
                      <a:r>
                        <a:rPr lang="en-US" sz="1591" b="true">
                          <a:solidFill>
                            <a:srgbClr val="000000"/>
                          </a:solidFill>
                          <a:latin typeface="Poppins Bold"/>
                          <a:ea typeface="Poppins Bold"/>
                          <a:cs typeface="Poppins Bold"/>
                          <a:sym typeface="Poppins Bold"/>
                        </a:rPr>
                        <a:t>Column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b="true">
                          <a:solidFill>
                            <a:srgbClr val="000000"/>
                          </a:solidFill>
                          <a:latin typeface="Poppins Bold"/>
                          <a:ea typeface="Poppins Bold"/>
                          <a:cs typeface="Poppins Bold"/>
                          <a:sym typeface="Poppins Bold"/>
                        </a:rPr>
                        <a:t>Data type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b="true">
                          <a:solidFill>
                            <a:srgbClr val="000000"/>
                          </a:solidFill>
                          <a:latin typeface="Poppins Bold"/>
                          <a:ea typeface="Poppins Bold"/>
                          <a:cs typeface="Poppins Bold"/>
                          <a:sym typeface="Poppins Bold"/>
                        </a:rPr>
                        <a:t>Description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93124">
                <a:tc>
                  <a:txBody>
                    <a:bodyPr anchor="t" rtlCol="false"/>
                    <a:lstStyle/>
                    <a:p>
                      <a:pPr algn="ctr">
                        <a:lnSpc>
                          <a:spcPts val="2227"/>
                        </a:lnSpc>
                        <a:defRPr/>
                      </a:pPr>
                      <a:r>
                        <a:rPr lang="en-US" sz="1591">
                          <a:solidFill>
                            <a:srgbClr val="000000"/>
                          </a:solidFill>
                          <a:latin typeface="Poppins"/>
                          <a:ea typeface="Poppins"/>
                          <a:cs typeface="Poppins"/>
                          <a:sym typeface="Poppins"/>
                        </a:rPr>
                        <a:t>Cr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int64</a:t>
                      </a:r>
                      <a:endParaRPr lang="en-US" sz="1100"/>
                    </a:p>
                    <a:p>
                      <a:pPr algn="ctr">
                        <a:lnSpc>
                          <a:spcPts val="2227"/>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Creatinine level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7795">
                <a:tc>
                  <a:txBody>
                    <a:bodyPr anchor="t" rtlCol="false"/>
                    <a:lstStyle/>
                    <a:p>
                      <a:pPr algn="ctr">
                        <a:lnSpc>
                          <a:spcPts val="2227"/>
                        </a:lnSpc>
                        <a:defRPr/>
                      </a:pPr>
                      <a:r>
                        <a:rPr lang="en-US" sz="1591">
                          <a:solidFill>
                            <a:srgbClr val="000000"/>
                          </a:solidFill>
                          <a:latin typeface="Poppins"/>
                          <a:ea typeface="Poppins"/>
                          <a:cs typeface="Poppins"/>
                          <a:sym typeface="Poppins"/>
                        </a:rPr>
                        <a:t>HbA1c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float64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Average blood glucose level over the past 2–3 months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1857">
                <a:tc>
                  <a:txBody>
                    <a:bodyPr anchor="t" rtlCol="false"/>
                    <a:lstStyle/>
                    <a:p>
                      <a:pPr algn="ctr">
                        <a:lnSpc>
                          <a:spcPts val="2227"/>
                        </a:lnSpc>
                        <a:defRPr/>
                      </a:pPr>
                      <a:r>
                        <a:rPr lang="en-US" sz="1591">
                          <a:solidFill>
                            <a:srgbClr val="000000"/>
                          </a:solidFill>
                          <a:latin typeface="Poppins"/>
                          <a:ea typeface="Poppins"/>
                          <a:cs typeface="Poppins"/>
                          <a:sym typeface="Poppins"/>
                        </a:rPr>
                        <a:t>Chol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float64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Cholesterol level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8199">
                <a:tc>
                  <a:txBody>
                    <a:bodyPr anchor="t" rtlCol="false"/>
                    <a:lstStyle/>
                    <a:p>
                      <a:pPr algn="ctr">
                        <a:lnSpc>
                          <a:spcPts val="2227"/>
                        </a:lnSpc>
                        <a:defRPr/>
                      </a:pPr>
                      <a:r>
                        <a:rPr lang="en-US" sz="1591">
                          <a:solidFill>
                            <a:srgbClr val="000000"/>
                          </a:solidFill>
                          <a:latin typeface="Poppins"/>
                          <a:ea typeface="Poppins"/>
                          <a:cs typeface="Poppins"/>
                          <a:sym typeface="Poppins"/>
                        </a:rPr>
                        <a:t>TG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float64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Triglyceride level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8199">
                <a:tc>
                  <a:txBody>
                    <a:bodyPr anchor="t" rtlCol="false"/>
                    <a:lstStyle/>
                    <a:p>
                      <a:pPr algn="ctr">
                        <a:lnSpc>
                          <a:spcPts val="2227"/>
                        </a:lnSpc>
                        <a:defRPr/>
                      </a:pPr>
                      <a:r>
                        <a:rPr lang="en-US" sz="1591">
                          <a:solidFill>
                            <a:srgbClr val="000000"/>
                          </a:solidFill>
                          <a:latin typeface="Poppins"/>
                          <a:ea typeface="Poppins"/>
                          <a:cs typeface="Poppins"/>
                          <a:sym typeface="Poppins"/>
                        </a:rPr>
                        <a:t>HDL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float64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High-density lipoprotein ("good" cholesterol)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597956" y="1216859"/>
            <a:ext cx="13916906"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EXPLORATORY DATA ANALYSIS (EDA)</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7602200" y="-473017"/>
            <a:ext cx="3086100" cy="11233035"/>
            <a:chOff x="0" y="0"/>
            <a:chExt cx="812800" cy="2958495"/>
          </a:xfrm>
        </p:grpSpPr>
        <p:sp>
          <p:nvSpPr>
            <p:cNvPr name="Freeform 3" id="3"/>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4" id="4"/>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sp>
        <p:nvSpPr>
          <p:cNvPr name="TextBox 5" id="5"/>
          <p:cNvSpPr txBox="true"/>
          <p:nvPr/>
        </p:nvSpPr>
        <p:spPr>
          <a:xfrm rot="0">
            <a:off x="1082001" y="1916401"/>
            <a:ext cx="15271181" cy="941921"/>
          </a:xfrm>
          <a:prstGeom prst="rect">
            <a:avLst/>
          </a:prstGeom>
        </p:spPr>
        <p:txBody>
          <a:bodyPr anchor="t" rtlCol="false" tIns="0" lIns="0" bIns="0" rIns="0">
            <a:spAutoFit/>
          </a:bodyPr>
          <a:lstStyle/>
          <a:p>
            <a:pPr algn="l" marL="820409" indent="-410205" lvl="1">
              <a:lnSpc>
                <a:spcPts val="8017"/>
              </a:lnSpc>
              <a:buFont typeface="Arial"/>
              <a:buChar char="•"/>
            </a:pPr>
            <a:r>
              <a:rPr lang="en-US" b="true" sz="3799">
                <a:solidFill>
                  <a:srgbClr val="1F191A"/>
                </a:solidFill>
                <a:latin typeface="Poppins Bold"/>
                <a:ea typeface="Poppins Bold"/>
                <a:cs typeface="Poppins Bold"/>
                <a:sym typeface="Poppins Bold"/>
              </a:rPr>
              <a:t>Features</a:t>
            </a:r>
          </a:p>
        </p:txBody>
      </p:sp>
      <p:graphicFrame>
        <p:nvGraphicFramePr>
          <p:cNvPr name="Table 6" id="6"/>
          <p:cNvGraphicFramePr>
            <a:graphicFrameLocks noGrp="true"/>
          </p:cNvGraphicFramePr>
          <p:nvPr/>
        </p:nvGraphicFramePr>
        <p:xfrm>
          <a:off x="1082001" y="3458397"/>
          <a:ext cx="13079305" cy="4892514"/>
        </p:xfrm>
        <a:graphic>
          <a:graphicData uri="http://schemas.openxmlformats.org/drawingml/2006/table">
            <a:tbl>
              <a:tblPr/>
              <a:tblGrid>
                <a:gridCol w="2092854"/>
                <a:gridCol w="1734632"/>
                <a:gridCol w="9251819"/>
              </a:tblGrid>
              <a:tr h="1215803">
                <a:tc>
                  <a:txBody>
                    <a:bodyPr anchor="t" rtlCol="false"/>
                    <a:lstStyle/>
                    <a:p>
                      <a:pPr algn="ctr">
                        <a:lnSpc>
                          <a:spcPts val="2227"/>
                        </a:lnSpc>
                        <a:defRPr/>
                      </a:pPr>
                      <a:r>
                        <a:rPr lang="en-US" sz="1591" b="true">
                          <a:solidFill>
                            <a:srgbClr val="000000"/>
                          </a:solidFill>
                          <a:latin typeface="Poppins Bold"/>
                          <a:ea typeface="Poppins Bold"/>
                          <a:cs typeface="Poppins Bold"/>
                          <a:sym typeface="Poppins Bold"/>
                        </a:rPr>
                        <a:t>Column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b="true">
                          <a:solidFill>
                            <a:srgbClr val="000000"/>
                          </a:solidFill>
                          <a:latin typeface="Poppins Bold"/>
                          <a:ea typeface="Poppins Bold"/>
                          <a:cs typeface="Poppins Bold"/>
                          <a:sym typeface="Poppins Bold"/>
                        </a:rPr>
                        <a:t>Data type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b="true">
                          <a:solidFill>
                            <a:srgbClr val="000000"/>
                          </a:solidFill>
                          <a:latin typeface="Poppins Bold"/>
                          <a:ea typeface="Poppins Bold"/>
                          <a:cs typeface="Poppins Bold"/>
                          <a:sym typeface="Poppins Bold"/>
                        </a:rPr>
                        <a:t>Description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05699">
                <a:tc>
                  <a:txBody>
                    <a:bodyPr anchor="t" rtlCol="false"/>
                    <a:lstStyle/>
                    <a:p>
                      <a:pPr algn="ctr">
                        <a:lnSpc>
                          <a:spcPts val="2227"/>
                        </a:lnSpc>
                        <a:defRPr/>
                      </a:pPr>
                      <a:r>
                        <a:rPr lang="en-US" sz="1591">
                          <a:solidFill>
                            <a:srgbClr val="000000"/>
                          </a:solidFill>
                          <a:latin typeface="Poppins"/>
                          <a:ea typeface="Poppins"/>
                          <a:cs typeface="Poppins"/>
                          <a:sym typeface="Poppins"/>
                        </a:rPr>
                        <a:t>LDL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float64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Low-density lipoprotein ("bad" cholesterol)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8980">
                <a:tc>
                  <a:txBody>
                    <a:bodyPr anchor="t" rtlCol="false"/>
                    <a:lstStyle/>
                    <a:p>
                      <a:pPr algn="ctr">
                        <a:lnSpc>
                          <a:spcPts val="2227"/>
                        </a:lnSpc>
                        <a:defRPr/>
                      </a:pPr>
                      <a:r>
                        <a:rPr lang="en-US" sz="1591">
                          <a:solidFill>
                            <a:srgbClr val="000000"/>
                          </a:solidFill>
                          <a:latin typeface="Poppins"/>
                          <a:ea typeface="Poppins"/>
                          <a:cs typeface="Poppins"/>
                          <a:sym typeface="Poppins"/>
                        </a:rPr>
                        <a:t>VLDL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float64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Very low-density lipoprotein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2876">
                <a:tc>
                  <a:txBody>
                    <a:bodyPr anchor="t" rtlCol="false"/>
                    <a:lstStyle/>
                    <a:p>
                      <a:pPr algn="ctr">
                        <a:lnSpc>
                          <a:spcPts val="2227"/>
                        </a:lnSpc>
                        <a:defRPr/>
                      </a:pPr>
                      <a:r>
                        <a:rPr lang="en-US" sz="1591">
                          <a:solidFill>
                            <a:srgbClr val="000000"/>
                          </a:solidFill>
                          <a:latin typeface="Poppins"/>
                          <a:ea typeface="Poppins"/>
                          <a:cs typeface="Poppins"/>
                          <a:sym typeface="Poppins"/>
                        </a:rPr>
                        <a:t>BMI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float64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Body Mass Index</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9156">
                <a:tc>
                  <a:txBody>
                    <a:bodyPr anchor="t" rtlCol="false"/>
                    <a:lstStyle/>
                    <a:p>
                      <a:pPr algn="ctr">
                        <a:lnSpc>
                          <a:spcPts val="2227"/>
                        </a:lnSpc>
                        <a:defRPr/>
                      </a:pPr>
                      <a:r>
                        <a:rPr lang="en-US" sz="1591">
                          <a:solidFill>
                            <a:srgbClr val="000000"/>
                          </a:solidFill>
                          <a:latin typeface="Poppins"/>
                          <a:ea typeface="Poppins"/>
                          <a:cs typeface="Poppins"/>
                          <a:sym typeface="Poppins"/>
                        </a:rPr>
                        <a:t>CLASS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object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27"/>
                        </a:lnSpc>
                        <a:defRPr/>
                      </a:pPr>
                      <a:r>
                        <a:rPr lang="en-US" sz="1591">
                          <a:solidFill>
                            <a:srgbClr val="000000"/>
                          </a:solidFill>
                          <a:latin typeface="Poppins"/>
                          <a:ea typeface="Poppins"/>
                          <a:cs typeface="Poppins"/>
                          <a:sym typeface="Poppins"/>
                        </a:rPr>
                        <a:t>Target variable (Diabetic status)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457200" y="950159"/>
            <a:ext cx="13916906"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EXPLORATORY DATA ANALYSIS (EDA)</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7602200" y="-473017"/>
            <a:ext cx="3086100" cy="11233035"/>
            <a:chOff x="0" y="0"/>
            <a:chExt cx="812800" cy="2958495"/>
          </a:xfrm>
        </p:grpSpPr>
        <p:sp>
          <p:nvSpPr>
            <p:cNvPr name="Freeform 3" id="3"/>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4" id="4"/>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sp>
        <p:nvSpPr>
          <p:cNvPr name="Freeform 5" id="5"/>
          <p:cNvSpPr/>
          <p:nvPr/>
        </p:nvSpPr>
        <p:spPr>
          <a:xfrm flipH="false" flipV="false" rot="0">
            <a:off x="1304925" y="3250966"/>
            <a:ext cx="8834864" cy="6274034"/>
          </a:xfrm>
          <a:custGeom>
            <a:avLst/>
            <a:gdLst/>
            <a:ahLst/>
            <a:cxnLst/>
            <a:rect r="r" b="b" t="t" l="l"/>
            <a:pathLst>
              <a:path h="6274034" w="8834864">
                <a:moveTo>
                  <a:pt x="0" y="0"/>
                </a:moveTo>
                <a:lnTo>
                  <a:pt x="8834864" y="0"/>
                </a:lnTo>
                <a:lnTo>
                  <a:pt x="8834864" y="6274034"/>
                </a:lnTo>
                <a:lnTo>
                  <a:pt x="0" y="6274034"/>
                </a:lnTo>
                <a:lnTo>
                  <a:pt x="0" y="0"/>
                </a:lnTo>
                <a:close/>
              </a:path>
            </a:pathLst>
          </a:custGeom>
          <a:blipFill>
            <a:blip r:embed="rId2"/>
            <a:stretch>
              <a:fillRect l="0" t="0" r="0" b="0"/>
            </a:stretch>
          </a:blipFill>
        </p:spPr>
      </p:sp>
      <p:sp>
        <p:nvSpPr>
          <p:cNvPr name="TextBox 6" id="6"/>
          <p:cNvSpPr txBox="true"/>
          <p:nvPr/>
        </p:nvSpPr>
        <p:spPr>
          <a:xfrm rot="0">
            <a:off x="10837894" y="4604177"/>
            <a:ext cx="5570389" cy="2506730"/>
          </a:xfrm>
          <a:prstGeom prst="rect">
            <a:avLst/>
          </a:prstGeom>
        </p:spPr>
        <p:txBody>
          <a:bodyPr anchor="t" rtlCol="false" tIns="0" lIns="0" bIns="0" rIns="0">
            <a:spAutoFit/>
          </a:bodyPr>
          <a:lstStyle/>
          <a:p>
            <a:pPr algn="l" marL="690872" indent="-345436" lvl="1">
              <a:lnSpc>
                <a:spcPts val="6751"/>
              </a:lnSpc>
              <a:buFont typeface="Arial"/>
              <a:buChar char="•"/>
            </a:pPr>
            <a:r>
              <a:rPr lang="en-US" sz="3199">
                <a:solidFill>
                  <a:srgbClr val="1F191A"/>
                </a:solidFill>
                <a:latin typeface="Poppins"/>
                <a:ea typeface="Poppins"/>
                <a:cs typeface="Poppins"/>
                <a:sym typeface="Poppins"/>
              </a:rPr>
              <a:t>CLass 0 : Non-Diabetic</a:t>
            </a:r>
          </a:p>
          <a:p>
            <a:pPr algn="l" marL="690872" indent="-345436" lvl="1">
              <a:lnSpc>
                <a:spcPts val="6751"/>
              </a:lnSpc>
              <a:buFont typeface="Arial"/>
              <a:buChar char="•"/>
            </a:pPr>
            <a:r>
              <a:rPr lang="en-US" sz="3199">
                <a:solidFill>
                  <a:srgbClr val="1F191A"/>
                </a:solidFill>
                <a:latin typeface="Poppins"/>
                <a:ea typeface="Poppins"/>
                <a:cs typeface="Poppins"/>
                <a:sym typeface="Poppins"/>
              </a:rPr>
              <a:t>Class 1 : Pre-Diabetic</a:t>
            </a:r>
          </a:p>
          <a:p>
            <a:pPr algn="l" marL="690872" indent="-345436" lvl="1">
              <a:lnSpc>
                <a:spcPts val="6751"/>
              </a:lnSpc>
              <a:buFont typeface="Arial"/>
              <a:buChar char="•"/>
            </a:pPr>
            <a:r>
              <a:rPr lang="en-US" sz="3199">
                <a:solidFill>
                  <a:srgbClr val="1F191A"/>
                </a:solidFill>
                <a:latin typeface="Poppins"/>
                <a:ea typeface="Poppins"/>
                <a:cs typeface="Poppins"/>
                <a:sym typeface="Poppins"/>
              </a:rPr>
              <a:t>Class 2 : Diabetic</a:t>
            </a:r>
          </a:p>
        </p:txBody>
      </p:sp>
      <p:sp>
        <p:nvSpPr>
          <p:cNvPr name="TextBox 7" id="7"/>
          <p:cNvSpPr txBox="true"/>
          <p:nvPr/>
        </p:nvSpPr>
        <p:spPr>
          <a:xfrm rot="0">
            <a:off x="834091" y="1986761"/>
            <a:ext cx="12646643" cy="684531"/>
          </a:xfrm>
          <a:prstGeom prst="rect">
            <a:avLst/>
          </a:prstGeom>
        </p:spPr>
        <p:txBody>
          <a:bodyPr anchor="t" rtlCol="false" tIns="0" lIns="0" bIns="0" rIns="0">
            <a:spAutoFit/>
          </a:bodyPr>
          <a:lstStyle/>
          <a:p>
            <a:pPr algn="l" marL="820409" indent="-410205" lvl="1">
              <a:lnSpc>
                <a:spcPts val="5319"/>
              </a:lnSpc>
              <a:buFont typeface="Arial"/>
              <a:buChar char="•"/>
            </a:pPr>
            <a:r>
              <a:rPr lang="en-US" sz="3799">
                <a:solidFill>
                  <a:srgbClr val="1F191A"/>
                </a:solidFill>
                <a:latin typeface="Poppins"/>
                <a:ea typeface="Poppins"/>
                <a:cs typeface="Poppins"/>
                <a:sym typeface="Poppins"/>
              </a:rPr>
              <a:t>How many patients are in each diagnosis Class ?</a:t>
            </a:r>
          </a:p>
        </p:txBody>
      </p:sp>
      <p:sp>
        <p:nvSpPr>
          <p:cNvPr name="TextBox 8" id="8"/>
          <p:cNvSpPr txBox="true"/>
          <p:nvPr/>
        </p:nvSpPr>
        <p:spPr>
          <a:xfrm rot="0">
            <a:off x="246310" y="696669"/>
            <a:ext cx="13916906"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EXPLORATORY DATA ANALYSIS (EDA)</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241700"/>
            <a:ext cx="7706228" cy="6206260"/>
          </a:xfrm>
          <a:custGeom>
            <a:avLst/>
            <a:gdLst/>
            <a:ahLst/>
            <a:cxnLst/>
            <a:rect r="r" b="b" t="t" l="l"/>
            <a:pathLst>
              <a:path h="6206260" w="7706228">
                <a:moveTo>
                  <a:pt x="0" y="0"/>
                </a:moveTo>
                <a:lnTo>
                  <a:pt x="7706228" y="0"/>
                </a:lnTo>
                <a:lnTo>
                  <a:pt x="7706228" y="6206260"/>
                </a:lnTo>
                <a:lnTo>
                  <a:pt x="0" y="6206260"/>
                </a:lnTo>
                <a:lnTo>
                  <a:pt x="0" y="0"/>
                </a:lnTo>
                <a:close/>
              </a:path>
            </a:pathLst>
          </a:custGeom>
          <a:blipFill>
            <a:blip r:embed="rId2"/>
            <a:stretch>
              <a:fillRect l="-5873" t="-9477" r="-8850" b="-3610"/>
            </a:stretch>
          </a:blipFill>
        </p:spPr>
      </p:sp>
      <p:sp>
        <p:nvSpPr>
          <p:cNvPr name="TextBox 3" id="3"/>
          <p:cNvSpPr txBox="true"/>
          <p:nvPr/>
        </p:nvSpPr>
        <p:spPr>
          <a:xfrm rot="0">
            <a:off x="9415728" y="3314987"/>
            <a:ext cx="8221902" cy="4840214"/>
          </a:xfrm>
          <a:prstGeom prst="rect">
            <a:avLst/>
          </a:prstGeom>
        </p:spPr>
        <p:txBody>
          <a:bodyPr anchor="t" rtlCol="false" tIns="0" lIns="0" bIns="0" rIns="0">
            <a:spAutoFit/>
          </a:bodyPr>
          <a:lstStyle/>
          <a:p>
            <a:pPr algn="l">
              <a:lnSpc>
                <a:spcPts val="6495"/>
              </a:lnSpc>
            </a:pPr>
          </a:p>
          <a:p>
            <a:pPr algn="l" marL="604519" indent="-302260" lvl="1">
              <a:lnSpc>
                <a:spcPts val="6495"/>
              </a:lnSpc>
              <a:buFont typeface="Arial"/>
              <a:buChar char="•"/>
            </a:pPr>
            <a:r>
              <a:rPr lang="en-US" sz="2799">
                <a:solidFill>
                  <a:srgbClr val="1F191A"/>
                </a:solidFill>
                <a:latin typeface="Poppins"/>
                <a:ea typeface="Poppins"/>
                <a:cs typeface="Poppins"/>
                <a:sym typeface="Poppins"/>
              </a:rPr>
              <a:t>Class 0 (Non-Diabetic): between 4.0 and 5.2.</a:t>
            </a:r>
          </a:p>
          <a:p>
            <a:pPr algn="l" marL="604519" indent="-302260" lvl="1">
              <a:lnSpc>
                <a:spcPts val="6495"/>
              </a:lnSpc>
              <a:buFont typeface="Arial"/>
              <a:buChar char="•"/>
            </a:pPr>
            <a:r>
              <a:rPr lang="en-US" sz="2799">
                <a:solidFill>
                  <a:srgbClr val="1F191A"/>
                </a:solidFill>
                <a:latin typeface="Poppins"/>
                <a:ea typeface="Poppins"/>
                <a:cs typeface="Poppins"/>
                <a:sym typeface="Poppins"/>
              </a:rPr>
              <a:t>Class 1 (Prediabetic): around 5.7 to 6.3.</a:t>
            </a:r>
          </a:p>
          <a:p>
            <a:pPr algn="l" marL="604519" indent="-302260" lvl="1">
              <a:lnSpc>
                <a:spcPts val="6495"/>
              </a:lnSpc>
              <a:buFont typeface="Arial"/>
              <a:buChar char="•"/>
            </a:pPr>
            <a:r>
              <a:rPr lang="en-US" sz="2799">
                <a:solidFill>
                  <a:srgbClr val="1F191A"/>
                </a:solidFill>
                <a:latin typeface="Poppins"/>
                <a:ea typeface="Poppins"/>
                <a:cs typeface="Poppins"/>
                <a:sym typeface="Poppins"/>
              </a:rPr>
              <a:t>Class 2 (Diabetic): between 7.0 and 10.5 (reaching up to 16).</a:t>
            </a:r>
          </a:p>
        </p:txBody>
      </p:sp>
      <p:sp>
        <p:nvSpPr>
          <p:cNvPr name="TextBox 4" id="4"/>
          <p:cNvSpPr txBox="true"/>
          <p:nvPr/>
        </p:nvSpPr>
        <p:spPr>
          <a:xfrm rot="0">
            <a:off x="544484" y="1870257"/>
            <a:ext cx="13119145" cy="684531"/>
          </a:xfrm>
          <a:prstGeom prst="rect">
            <a:avLst/>
          </a:prstGeom>
        </p:spPr>
        <p:txBody>
          <a:bodyPr anchor="t" rtlCol="false" tIns="0" lIns="0" bIns="0" rIns="0">
            <a:spAutoFit/>
          </a:bodyPr>
          <a:lstStyle/>
          <a:p>
            <a:pPr algn="l" marL="820409" indent="-410205" lvl="1">
              <a:lnSpc>
                <a:spcPts val="5319"/>
              </a:lnSpc>
              <a:buFont typeface="Arial"/>
              <a:buChar char="•"/>
            </a:pPr>
            <a:r>
              <a:rPr lang="en-US" sz="3799">
                <a:solidFill>
                  <a:srgbClr val="1F191A"/>
                </a:solidFill>
                <a:latin typeface="Poppins"/>
                <a:ea typeface="Poppins"/>
                <a:cs typeface="Poppins"/>
                <a:sym typeface="Poppins"/>
              </a:rPr>
              <a:t> Which </a:t>
            </a:r>
            <a:r>
              <a:rPr lang="en-US" sz="3799">
                <a:solidFill>
                  <a:srgbClr val="1F191A"/>
                </a:solidFill>
                <a:latin typeface="Poppins"/>
                <a:ea typeface="Poppins"/>
                <a:cs typeface="Poppins"/>
                <a:sym typeface="Poppins"/>
              </a:rPr>
              <a:t>HbA1c levels Range belongs to which Class?</a:t>
            </a:r>
          </a:p>
        </p:txBody>
      </p:sp>
      <p:sp>
        <p:nvSpPr>
          <p:cNvPr name="TextBox 5" id="5"/>
          <p:cNvSpPr txBox="true"/>
          <p:nvPr/>
        </p:nvSpPr>
        <p:spPr>
          <a:xfrm rot="0">
            <a:off x="348305" y="694465"/>
            <a:ext cx="13916906"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EXPLORATORY DATA ANALYSIS (EDA)</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395660" y="3401826"/>
            <a:ext cx="9100554" cy="5856474"/>
          </a:xfrm>
          <a:custGeom>
            <a:avLst/>
            <a:gdLst/>
            <a:ahLst/>
            <a:cxnLst/>
            <a:rect r="r" b="b" t="t" l="l"/>
            <a:pathLst>
              <a:path h="5856474" w="9100554">
                <a:moveTo>
                  <a:pt x="0" y="0"/>
                </a:moveTo>
                <a:lnTo>
                  <a:pt x="9100554" y="0"/>
                </a:lnTo>
                <a:lnTo>
                  <a:pt x="9100554" y="5856474"/>
                </a:lnTo>
                <a:lnTo>
                  <a:pt x="0" y="5856474"/>
                </a:lnTo>
                <a:lnTo>
                  <a:pt x="0" y="0"/>
                </a:lnTo>
                <a:close/>
              </a:path>
            </a:pathLst>
          </a:custGeom>
          <a:blipFill>
            <a:blip r:embed="rId2"/>
            <a:stretch>
              <a:fillRect l="0" t="0" r="0" b="0"/>
            </a:stretch>
          </a:blipFill>
        </p:spPr>
      </p:sp>
      <p:sp>
        <p:nvSpPr>
          <p:cNvPr name="TextBox 3" id="3"/>
          <p:cNvSpPr txBox="true"/>
          <p:nvPr/>
        </p:nvSpPr>
        <p:spPr>
          <a:xfrm rot="0">
            <a:off x="10939013" y="4497983"/>
            <a:ext cx="6196462" cy="2382896"/>
          </a:xfrm>
          <a:prstGeom prst="rect">
            <a:avLst/>
          </a:prstGeom>
        </p:spPr>
        <p:txBody>
          <a:bodyPr anchor="t" rtlCol="false" tIns="0" lIns="0" bIns="0" rIns="0">
            <a:spAutoFit/>
          </a:bodyPr>
          <a:lstStyle/>
          <a:p>
            <a:pPr algn="just" marL="604519" indent="-302260" lvl="1">
              <a:lnSpc>
                <a:spcPts val="6495"/>
              </a:lnSpc>
              <a:buFont typeface="Arial"/>
              <a:buChar char="•"/>
            </a:pPr>
            <a:r>
              <a:rPr lang="en-US" sz="2799">
                <a:solidFill>
                  <a:srgbClr val="1F191A"/>
                </a:solidFill>
                <a:latin typeface="Poppins"/>
                <a:ea typeface="Poppins"/>
                <a:cs typeface="Poppins"/>
                <a:sym typeface="Poppins"/>
              </a:rPr>
              <a:t>Patients </a:t>
            </a:r>
            <a:r>
              <a:rPr lang="en-US" sz="2799">
                <a:solidFill>
                  <a:srgbClr val="1F191A"/>
                </a:solidFill>
                <a:latin typeface="Poppins"/>
                <a:ea typeface="Poppins"/>
                <a:cs typeface="Poppins"/>
                <a:sym typeface="Poppins"/>
              </a:rPr>
              <a:t>in 50–60 year olds mostly have Diabetes very few patients under 30 or over 70.</a:t>
            </a:r>
          </a:p>
        </p:txBody>
      </p:sp>
      <p:sp>
        <p:nvSpPr>
          <p:cNvPr name="TextBox 4" id="4"/>
          <p:cNvSpPr txBox="true"/>
          <p:nvPr/>
        </p:nvSpPr>
        <p:spPr>
          <a:xfrm rot="0">
            <a:off x="987714" y="2156655"/>
            <a:ext cx="12638088" cy="677590"/>
          </a:xfrm>
          <a:prstGeom prst="rect">
            <a:avLst/>
          </a:prstGeom>
        </p:spPr>
        <p:txBody>
          <a:bodyPr anchor="t" rtlCol="false" tIns="0" lIns="0" bIns="0" rIns="0">
            <a:spAutoFit/>
          </a:bodyPr>
          <a:lstStyle/>
          <a:p>
            <a:pPr algn="just" marL="798820" indent="-399410" lvl="1">
              <a:lnSpc>
                <a:spcPts val="5179"/>
              </a:lnSpc>
              <a:buFont typeface="Arial"/>
              <a:buChar char="•"/>
            </a:pPr>
            <a:r>
              <a:rPr lang="en-US" sz="3699">
                <a:solidFill>
                  <a:srgbClr val="1F191A"/>
                </a:solidFill>
                <a:latin typeface="Poppins"/>
                <a:ea typeface="Poppins"/>
                <a:cs typeface="Poppins"/>
                <a:sym typeface="Poppins"/>
              </a:rPr>
              <a:t>Which </a:t>
            </a:r>
            <a:r>
              <a:rPr lang="en-US" sz="3699">
                <a:solidFill>
                  <a:srgbClr val="1F191A"/>
                </a:solidFill>
                <a:latin typeface="Poppins"/>
                <a:ea typeface="Poppins"/>
                <a:cs typeface="Poppins"/>
                <a:sym typeface="Poppins"/>
              </a:rPr>
              <a:t>patient's age risk of having diabetes?</a:t>
            </a:r>
          </a:p>
        </p:txBody>
      </p:sp>
      <p:sp>
        <p:nvSpPr>
          <p:cNvPr name="TextBox 5" id="5"/>
          <p:cNvSpPr txBox="true"/>
          <p:nvPr/>
        </p:nvSpPr>
        <p:spPr>
          <a:xfrm rot="0">
            <a:off x="348305" y="694465"/>
            <a:ext cx="13916906"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EXPLORATORY DATA ANALYSIS (EDA)</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429630" y="3672445"/>
            <a:ext cx="9157300" cy="5823332"/>
          </a:xfrm>
          <a:custGeom>
            <a:avLst/>
            <a:gdLst/>
            <a:ahLst/>
            <a:cxnLst/>
            <a:rect r="r" b="b" t="t" l="l"/>
            <a:pathLst>
              <a:path h="5823332" w="9157300">
                <a:moveTo>
                  <a:pt x="0" y="0"/>
                </a:moveTo>
                <a:lnTo>
                  <a:pt x="9157300" y="0"/>
                </a:lnTo>
                <a:lnTo>
                  <a:pt x="9157300" y="5823332"/>
                </a:lnTo>
                <a:lnTo>
                  <a:pt x="0" y="5823332"/>
                </a:lnTo>
                <a:lnTo>
                  <a:pt x="0" y="0"/>
                </a:lnTo>
                <a:close/>
              </a:path>
            </a:pathLst>
          </a:custGeom>
          <a:blipFill>
            <a:blip r:embed="rId2"/>
            <a:stretch>
              <a:fillRect l="0" t="0" r="0" b="0"/>
            </a:stretch>
          </a:blipFill>
        </p:spPr>
      </p:sp>
      <p:sp>
        <p:nvSpPr>
          <p:cNvPr name="TextBox 3" id="3"/>
          <p:cNvSpPr txBox="true"/>
          <p:nvPr/>
        </p:nvSpPr>
        <p:spPr>
          <a:xfrm rot="0">
            <a:off x="987714" y="2156655"/>
            <a:ext cx="12638088" cy="677590"/>
          </a:xfrm>
          <a:prstGeom prst="rect">
            <a:avLst/>
          </a:prstGeom>
        </p:spPr>
        <p:txBody>
          <a:bodyPr anchor="t" rtlCol="false" tIns="0" lIns="0" bIns="0" rIns="0">
            <a:spAutoFit/>
          </a:bodyPr>
          <a:lstStyle/>
          <a:p>
            <a:pPr algn="just" marL="798820" indent="-399410" lvl="1">
              <a:lnSpc>
                <a:spcPts val="5179"/>
              </a:lnSpc>
              <a:buFont typeface="Arial"/>
              <a:buChar char="•"/>
            </a:pPr>
            <a:r>
              <a:rPr lang="en-US" sz="3699">
                <a:solidFill>
                  <a:srgbClr val="1F191A"/>
                </a:solidFill>
                <a:latin typeface="Poppins"/>
                <a:ea typeface="Poppins"/>
                <a:cs typeface="Poppins"/>
                <a:sym typeface="Poppins"/>
              </a:rPr>
              <a:t>Which </a:t>
            </a:r>
            <a:r>
              <a:rPr lang="en-US" sz="3699">
                <a:solidFill>
                  <a:srgbClr val="1F191A"/>
                </a:solidFill>
                <a:latin typeface="Poppins"/>
                <a:ea typeface="Poppins"/>
                <a:cs typeface="Poppins"/>
                <a:sym typeface="Poppins"/>
              </a:rPr>
              <a:t>patient's age risk of having diabetes?</a:t>
            </a:r>
          </a:p>
        </p:txBody>
      </p:sp>
      <p:sp>
        <p:nvSpPr>
          <p:cNvPr name="TextBox 4" id="4"/>
          <p:cNvSpPr txBox="true"/>
          <p:nvPr/>
        </p:nvSpPr>
        <p:spPr>
          <a:xfrm rot="0">
            <a:off x="348305" y="694465"/>
            <a:ext cx="13916906"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EXPLORATORY DATA ANALYSIS (EDA)</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12</a:t>
            </a:r>
          </a:p>
        </p:txBody>
      </p:sp>
      <p:sp>
        <p:nvSpPr>
          <p:cNvPr name="TextBox 6" id="6"/>
          <p:cNvSpPr txBox="true"/>
          <p:nvPr/>
        </p:nvSpPr>
        <p:spPr>
          <a:xfrm rot="0">
            <a:off x="11091413" y="4650383"/>
            <a:ext cx="6196462" cy="3202002"/>
          </a:xfrm>
          <a:prstGeom prst="rect">
            <a:avLst/>
          </a:prstGeom>
        </p:spPr>
        <p:txBody>
          <a:bodyPr anchor="t" rtlCol="false" tIns="0" lIns="0" bIns="0" rIns="0">
            <a:spAutoFit/>
          </a:bodyPr>
          <a:lstStyle/>
          <a:p>
            <a:pPr algn="just" marL="604519" indent="-302260" lvl="1">
              <a:lnSpc>
                <a:spcPts val="6495"/>
              </a:lnSpc>
              <a:buFont typeface="Arial"/>
              <a:buChar char="•"/>
            </a:pPr>
            <a:r>
              <a:rPr lang="en-US" sz="2799">
                <a:solidFill>
                  <a:srgbClr val="1F191A"/>
                </a:solidFill>
                <a:latin typeface="Poppins"/>
                <a:ea typeface="Poppins"/>
                <a:cs typeface="Poppins"/>
                <a:sym typeface="Poppins"/>
              </a:rPr>
              <a:t>D</a:t>
            </a:r>
            <a:r>
              <a:rPr lang="en-US" sz="2799">
                <a:solidFill>
                  <a:srgbClr val="1F191A"/>
                </a:solidFill>
                <a:latin typeface="Poppins"/>
                <a:ea typeface="Poppins"/>
                <a:cs typeface="Poppins"/>
                <a:sym typeface="Poppins"/>
              </a:rPr>
              <a:t>ata is heavily concentrated between ages 50–60 (peaking around 53–55); under 30 and over 70 are rare.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21091"/>
            <a:ext cx="8062960" cy="6137209"/>
          </a:xfrm>
          <a:custGeom>
            <a:avLst/>
            <a:gdLst/>
            <a:ahLst/>
            <a:cxnLst/>
            <a:rect r="r" b="b" t="t" l="l"/>
            <a:pathLst>
              <a:path h="6137209" w="8062960">
                <a:moveTo>
                  <a:pt x="0" y="0"/>
                </a:moveTo>
                <a:lnTo>
                  <a:pt x="8062960" y="0"/>
                </a:lnTo>
                <a:lnTo>
                  <a:pt x="8062960" y="6137209"/>
                </a:lnTo>
                <a:lnTo>
                  <a:pt x="0" y="6137209"/>
                </a:lnTo>
                <a:lnTo>
                  <a:pt x="0" y="0"/>
                </a:lnTo>
                <a:close/>
              </a:path>
            </a:pathLst>
          </a:custGeom>
          <a:blipFill>
            <a:blip r:embed="rId2"/>
            <a:stretch>
              <a:fillRect l="0" t="0" r="0" b="0"/>
            </a:stretch>
          </a:blipFill>
        </p:spPr>
      </p:sp>
      <p:sp>
        <p:nvSpPr>
          <p:cNvPr name="TextBox 3" id="3"/>
          <p:cNvSpPr txBox="true"/>
          <p:nvPr/>
        </p:nvSpPr>
        <p:spPr>
          <a:xfrm rot="0">
            <a:off x="9408816" y="4181135"/>
            <a:ext cx="8595009" cy="3626596"/>
          </a:xfrm>
          <a:prstGeom prst="rect">
            <a:avLst/>
          </a:prstGeom>
        </p:spPr>
        <p:txBody>
          <a:bodyPr anchor="t" rtlCol="false" tIns="0" lIns="0" bIns="0" rIns="0">
            <a:spAutoFit/>
          </a:bodyPr>
          <a:lstStyle/>
          <a:p>
            <a:pPr algn="l" marL="647698" indent="-323849" lvl="1">
              <a:lnSpc>
                <a:spcPts val="7499"/>
              </a:lnSpc>
              <a:buAutoNum type="arabicPeriod" startAt="1"/>
            </a:pPr>
            <a:r>
              <a:rPr lang="en-US" sz="2999">
                <a:solidFill>
                  <a:srgbClr val="1F191A"/>
                </a:solidFill>
                <a:latin typeface="Poppins"/>
                <a:ea typeface="Poppins"/>
                <a:cs typeface="Poppins"/>
                <a:sym typeface="Poppins"/>
              </a:rPr>
              <a:t>BMI (Body Mass Index) — Correlation: 0.57</a:t>
            </a:r>
          </a:p>
          <a:p>
            <a:pPr algn="l" marL="647698" indent="-323849" lvl="1">
              <a:lnSpc>
                <a:spcPts val="7499"/>
              </a:lnSpc>
              <a:buAutoNum type="arabicPeriod" startAt="1"/>
            </a:pPr>
            <a:r>
              <a:rPr lang="en-US" sz="2999">
                <a:solidFill>
                  <a:srgbClr val="1F191A"/>
                </a:solidFill>
                <a:latin typeface="Poppins"/>
                <a:ea typeface="Poppins"/>
                <a:cs typeface="Poppins"/>
                <a:sym typeface="Poppins"/>
              </a:rPr>
              <a:t>HbA1c (%) — Correlation: 0.56</a:t>
            </a:r>
          </a:p>
          <a:p>
            <a:pPr algn="l" marL="647698" indent="-323849" lvl="1">
              <a:lnSpc>
                <a:spcPts val="7499"/>
              </a:lnSpc>
              <a:buAutoNum type="arabicPeriod" startAt="1"/>
            </a:pPr>
            <a:r>
              <a:rPr lang="en-US" sz="2999">
                <a:solidFill>
                  <a:srgbClr val="1F191A"/>
                </a:solidFill>
                <a:latin typeface="Poppins"/>
                <a:ea typeface="Poppins"/>
                <a:cs typeface="Poppins"/>
                <a:sym typeface="Poppins"/>
              </a:rPr>
              <a:t>AGE — Correlation: 0.44</a:t>
            </a:r>
          </a:p>
          <a:p>
            <a:pPr algn="l">
              <a:lnSpc>
                <a:spcPts val="6999"/>
              </a:lnSpc>
            </a:pPr>
          </a:p>
        </p:txBody>
      </p:sp>
      <p:sp>
        <p:nvSpPr>
          <p:cNvPr name="TextBox 4" id="4"/>
          <p:cNvSpPr txBox="true"/>
          <p:nvPr/>
        </p:nvSpPr>
        <p:spPr>
          <a:xfrm rot="0">
            <a:off x="544484" y="1870257"/>
            <a:ext cx="12982554" cy="684531"/>
          </a:xfrm>
          <a:prstGeom prst="rect">
            <a:avLst/>
          </a:prstGeom>
        </p:spPr>
        <p:txBody>
          <a:bodyPr anchor="t" rtlCol="false" tIns="0" lIns="0" bIns="0" rIns="0">
            <a:spAutoFit/>
          </a:bodyPr>
          <a:lstStyle/>
          <a:p>
            <a:pPr algn="l" marL="820409" indent="-410205" lvl="1">
              <a:lnSpc>
                <a:spcPts val="5319"/>
              </a:lnSpc>
              <a:buFont typeface="Arial"/>
              <a:buChar char="•"/>
            </a:pPr>
            <a:r>
              <a:rPr lang="en-US" sz="3799">
                <a:solidFill>
                  <a:srgbClr val="1F191A"/>
                </a:solidFill>
                <a:latin typeface="Poppins"/>
                <a:ea typeface="Poppins"/>
                <a:cs typeface="Poppins"/>
                <a:sym typeface="Poppins"/>
              </a:rPr>
              <a:t>Which features a</a:t>
            </a:r>
            <a:r>
              <a:rPr lang="en-US" sz="3799">
                <a:solidFill>
                  <a:srgbClr val="1F191A"/>
                </a:solidFill>
                <a:latin typeface="Poppins"/>
                <a:ea typeface="Poppins"/>
                <a:cs typeface="Poppins"/>
                <a:sym typeface="Poppins"/>
              </a:rPr>
              <a:t>re most strongly tied to diabetes?</a:t>
            </a:r>
          </a:p>
        </p:txBody>
      </p:sp>
      <p:sp>
        <p:nvSpPr>
          <p:cNvPr name="TextBox 5" id="5"/>
          <p:cNvSpPr txBox="true"/>
          <p:nvPr/>
        </p:nvSpPr>
        <p:spPr>
          <a:xfrm rot="0">
            <a:off x="77308" y="684940"/>
            <a:ext cx="13916906"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EXPLORATORY DATA ANALYSIS (EDA)</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944242" y="1035051"/>
            <a:ext cx="10185832" cy="737642"/>
          </a:xfrm>
          <a:prstGeom prst="rect">
            <a:avLst/>
          </a:prstGeom>
        </p:spPr>
        <p:txBody>
          <a:bodyPr anchor="t" rtlCol="false" tIns="0" lIns="0" bIns="0" rIns="0">
            <a:spAutoFit/>
          </a:bodyPr>
          <a:lstStyle/>
          <a:p>
            <a:pPr algn="l">
              <a:lnSpc>
                <a:spcPts val="5023"/>
              </a:lnSpc>
            </a:pPr>
            <a:r>
              <a:rPr lang="en-US" sz="5402" spc="-54">
                <a:solidFill>
                  <a:srgbClr val="1F191A"/>
                </a:solidFill>
                <a:latin typeface="Poppins"/>
                <a:ea typeface="Poppins"/>
                <a:cs typeface="Poppins"/>
                <a:sym typeface="Poppins"/>
              </a:rPr>
              <a:t>4</a:t>
            </a:r>
            <a:r>
              <a:rPr lang="en-US" b="true" sz="5402" spc="-54">
                <a:solidFill>
                  <a:srgbClr val="1F191A"/>
                </a:solidFill>
                <a:latin typeface="Poppins Bold"/>
                <a:ea typeface="Poppins Bold"/>
                <a:cs typeface="Poppins Bold"/>
                <a:sym typeface="Poppins Bold"/>
              </a:rPr>
              <a:t>. METHODOLOGY</a:t>
            </a:r>
          </a:p>
        </p:txBody>
      </p:sp>
      <p:grpSp>
        <p:nvGrpSpPr>
          <p:cNvPr name="Group 3" id="3"/>
          <p:cNvGrpSpPr/>
          <p:nvPr/>
        </p:nvGrpSpPr>
        <p:grpSpPr>
          <a:xfrm rot="0">
            <a:off x="17259300" y="-320617"/>
            <a:ext cx="3581400" cy="11233035"/>
            <a:chOff x="0" y="0"/>
            <a:chExt cx="943249" cy="2958495"/>
          </a:xfrm>
        </p:grpSpPr>
        <p:sp>
          <p:nvSpPr>
            <p:cNvPr name="Freeform 4" id="4"/>
            <p:cNvSpPr/>
            <p:nvPr/>
          </p:nvSpPr>
          <p:spPr>
            <a:xfrm flipH="false" flipV="false" rot="0">
              <a:off x="0" y="0"/>
              <a:ext cx="943249" cy="2958495"/>
            </a:xfrm>
            <a:custGeom>
              <a:avLst/>
              <a:gdLst/>
              <a:ahLst/>
              <a:cxnLst/>
              <a:rect r="r" b="b" t="t" l="l"/>
              <a:pathLst>
                <a:path h="2958495" w="943249">
                  <a:moveTo>
                    <a:pt x="0" y="0"/>
                  </a:moveTo>
                  <a:lnTo>
                    <a:pt x="943249" y="0"/>
                  </a:lnTo>
                  <a:lnTo>
                    <a:pt x="943249" y="2958495"/>
                  </a:lnTo>
                  <a:lnTo>
                    <a:pt x="0" y="2958495"/>
                  </a:lnTo>
                  <a:close/>
                </a:path>
              </a:pathLst>
            </a:custGeom>
            <a:solidFill>
              <a:srgbClr val="428DFF"/>
            </a:solidFill>
          </p:spPr>
        </p:sp>
        <p:sp>
          <p:nvSpPr>
            <p:cNvPr name="TextBox 5" id="5"/>
            <p:cNvSpPr txBox="true"/>
            <p:nvPr/>
          </p:nvSpPr>
          <p:spPr>
            <a:xfrm>
              <a:off x="0" y="19050"/>
              <a:ext cx="943249" cy="2939445"/>
            </a:xfrm>
            <a:prstGeom prst="rect">
              <a:avLst/>
            </a:prstGeom>
          </p:spPr>
          <p:txBody>
            <a:bodyPr anchor="ctr" rtlCol="false" tIns="50800" lIns="50800" bIns="50800" rIns="50800"/>
            <a:lstStyle/>
            <a:p>
              <a:pPr algn="ctr">
                <a:lnSpc>
                  <a:spcPts val="1543"/>
                </a:lnSpc>
              </a:pPr>
            </a:p>
          </p:txBody>
        </p:sp>
      </p:grpSp>
      <p:sp>
        <p:nvSpPr>
          <p:cNvPr name="TextBox 6" id="6"/>
          <p:cNvSpPr txBox="true"/>
          <p:nvPr/>
        </p:nvSpPr>
        <p:spPr>
          <a:xfrm rot="0">
            <a:off x="944242" y="2429918"/>
            <a:ext cx="15349241" cy="1048551"/>
          </a:xfrm>
          <a:prstGeom prst="rect">
            <a:avLst/>
          </a:prstGeom>
        </p:spPr>
        <p:txBody>
          <a:bodyPr anchor="t" rtlCol="false" tIns="0" lIns="0" bIns="0" rIns="0">
            <a:spAutoFit/>
          </a:bodyPr>
          <a:lstStyle/>
          <a:p>
            <a:pPr algn="just">
              <a:lnSpc>
                <a:spcPts val="4237"/>
              </a:lnSpc>
            </a:pPr>
            <a:r>
              <a:rPr lang="en-US" b="true" sz="2599" spc="-25">
                <a:solidFill>
                  <a:srgbClr val="1F191A"/>
                </a:solidFill>
                <a:latin typeface="Poppins Bold"/>
                <a:ea typeface="Poppins Bold"/>
                <a:cs typeface="Poppins Bold"/>
                <a:sym typeface="Poppins Bold"/>
              </a:rPr>
              <a:t>P</a:t>
            </a:r>
            <a:r>
              <a:rPr lang="en-US" b="true" sz="2599" spc="-25">
                <a:solidFill>
                  <a:srgbClr val="1F191A"/>
                </a:solidFill>
                <a:latin typeface="Poppins Bold"/>
                <a:ea typeface="Poppins Bold"/>
                <a:cs typeface="Poppins Bold"/>
                <a:sym typeface="Poppins Bold"/>
              </a:rPr>
              <a:t>roject Goal:</a:t>
            </a:r>
            <a:r>
              <a:rPr lang="en-US" sz="2599" spc="-25">
                <a:solidFill>
                  <a:srgbClr val="1F191A"/>
                </a:solidFill>
                <a:latin typeface="Poppins"/>
                <a:ea typeface="Poppins"/>
                <a:cs typeface="Poppins"/>
                <a:sym typeface="Poppins"/>
              </a:rPr>
              <a:t> Predict a patient's diabetes status (Non-diabetic, Prediabetic, or Diabetic) using supervised machine learning algorithms to classify the CLASS variable.</a:t>
            </a:r>
          </a:p>
        </p:txBody>
      </p:sp>
      <p:sp>
        <p:nvSpPr>
          <p:cNvPr name="TextBox 7" id="7"/>
          <p:cNvSpPr txBox="true"/>
          <p:nvPr/>
        </p:nvSpPr>
        <p:spPr>
          <a:xfrm rot="0">
            <a:off x="1028700" y="4022311"/>
            <a:ext cx="15349241" cy="4748304"/>
          </a:xfrm>
          <a:prstGeom prst="rect">
            <a:avLst/>
          </a:prstGeom>
        </p:spPr>
        <p:txBody>
          <a:bodyPr anchor="t" rtlCol="false" tIns="0" lIns="0" bIns="0" rIns="0">
            <a:spAutoFit/>
          </a:bodyPr>
          <a:lstStyle/>
          <a:p>
            <a:pPr algn="just" marL="561339" indent="-280669" lvl="1">
              <a:lnSpc>
                <a:spcPts val="5407"/>
              </a:lnSpc>
              <a:buAutoNum type="arabicPeriod" startAt="1"/>
            </a:pPr>
            <a:r>
              <a:rPr lang="en-US" b="true" sz="2599" spc="-25">
                <a:solidFill>
                  <a:srgbClr val="1F191A"/>
                </a:solidFill>
                <a:latin typeface="Poppins Bold"/>
                <a:ea typeface="Poppins Bold"/>
                <a:cs typeface="Poppins Bold"/>
                <a:sym typeface="Poppins Bold"/>
              </a:rPr>
              <a:t>Data Cleaning &amp; EDA:</a:t>
            </a:r>
            <a:r>
              <a:rPr lang="en-US" sz="2599" spc="-25">
                <a:solidFill>
                  <a:srgbClr val="1F191A"/>
                </a:solidFill>
                <a:latin typeface="Poppins"/>
                <a:ea typeface="Poppins"/>
                <a:cs typeface="Poppins"/>
                <a:sym typeface="Poppins"/>
              </a:rPr>
              <a:t> Trimmed whitespace in categorical features and analyzed distributions &amp; boxplots.</a:t>
            </a:r>
          </a:p>
          <a:p>
            <a:pPr algn="just" marL="561339" indent="-280669" lvl="1">
              <a:lnSpc>
                <a:spcPts val="5407"/>
              </a:lnSpc>
              <a:buAutoNum type="arabicPeriod" startAt="1"/>
            </a:pPr>
            <a:r>
              <a:rPr lang="en-US" b="true" sz="2599" spc="-25">
                <a:solidFill>
                  <a:srgbClr val="1F191A"/>
                </a:solidFill>
                <a:latin typeface="Poppins Bold"/>
                <a:ea typeface="Poppins Bold"/>
                <a:cs typeface="Poppins Bold"/>
                <a:sym typeface="Poppins Bold"/>
              </a:rPr>
              <a:t>Preprocessing:</a:t>
            </a:r>
            <a:r>
              <a:rPr lang="en-US" sz="2599" spc="-25">
                <a:solidFill>
                  <a:srgbClr val="1F191A"/>
                </a:solidFill>
                <a:latin typeface="Poppins"/>
                <a:ea typeface="Poppins"/>
                <a:cs typeface="Poppins"/>
                <a:sym typeface="Poppins"/>
              </a:rPr>
              <a:t> Encoded categorical variables, dropped non-predictive ID columns, and performed an 80/20 train-test split.</a:t>
            </a:r>
          </a:p>
          <a:p>
            <a:pPr algn="just" marL="561339" indent="-280669" lvl="1">
              <a:lnSpc>
                <a:spcPts val="5407"/>
              </a:lnSpc>
              <a:buAutoNum type="arabicPeriod" startAt="1"/>
            </a:pPr>
            <a:r>
              <a:rPr lang="en-US" b="true" sz="2599" spc="-25">
                <a:solidFill>
                  <a:srgbClr val="1F191A"/>
                </a:solidFill>
                <a:latin typeface="Poppins Bold"/>
                <a:ea typeface="Poppins Bold"/>
                <a:cs typeface="Poppins Bold"/>
                <a:sym typeface="Poppins Bold"/>
              </a:rPr>
              <a:t>Model Training &amp; Tuning:</a:t>
            </a:r>
            <a:r>
              <a:rPr lang="en-US" sz="2599" spc="-25">
                <a:solidFill>
                  <a:srgbClr val="1F191A"/>
                </a:solidFill>
                <a:latin typeface="Poppins"/>
                <a:ea typeface="Poppins"/>
                <a:cs typeface="Poppins"/>
                <a:sym typeface="Poppins"/>
              </a:rPr>
              <a:t> Trained Logistic Regression and Random Forest models, optimizing hyperparameters with GridSearchCV.</a:t>
            </a:r>
          </a:p>
          <a:p>
            <a:pPr algn="just" marL="561339" indent="-280669" lvl="1">
              <a:lnSpc>
                <a:spcPts val="5407"/>
              </a:lnSpc>
              <a:buAutoNum type="arabicPeriod" startAt="1"/>
            </a:pPr>
            <a:r>
              <a:rPr lang="en-US" b="true" sz="2599" spc="-25">
                <a:solidFill>
                  <a:srgbClr val="1F191A"/>
                </a:solidFill>
                <a:latin typeface="Poppins Bold"/>
                <a:ea typeface="Poppins Bold"/>
                <a:cs typeface="Poppins Bold"/>
                <a:sym typeface="Poppins Bold"/>
              </a:rPr>
              <a:t>Evaluation:</a:t>
            </a:r>
            <a:r>
              <a:rPr lang="en-US" sz="2599" spc="-25">
                <a:solidFill>
                  <a:srgbClr val="1F191A"/>
                </a:solidFill>
                <a:latin typeface="Poppins"/>
                <a:ea typeface="Poppins"/>
                <a:cs typeface="Poppins"/>
                <a:sym typeface="Poppins"/>
              </a:rPr>
              <a:t> Assessed model performance using Accuracy, Precision, Recall, and F1-score.</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95931" y="2579225"/>
            <a:ext cx="7427432" cy="7083825"/>
          </a:xfrm>
          <a:custGeom>
            <a:avLst/>
            <a:gdLst/>
            <a:ahLst/>
            <a:cxnLst/>
            <a:rect r="r" b="b" t="t" l="l"/>
            <a:pathLst>
              <a:path h="7083825" w="7427432">
                <a:moveTo>
                  <a:pt x="0" y="0"/>
                </a:moveTo>
                <a:lnTo>
                  <a:pt x="7427432" y="0"/>
                </a:lnTo>
                <a:lnTo>
                  <a:pt x="7427432" y="7083825"/>
                </a:lnTo>
                <a:lnTo>
                  <a:pt x="0" y="7083825"/>
                </a:lnTo>
                <a:lnTo>
                  <a:pt x="0" y="0"/>
                </a:lnTo>
                <a:close/>
              </a:path>
            </a:pathLst>
          </a:custGeom>
          <a:blipFill>
            <a:blip r:embed="rId2"/>
            <a:stretch>
              <a:fillRect l="0" t="-2966" r="0" b="-2966"/>
            </a:stretch>
          </a:blipFill>
        </p:spPr>
      </p:sp>
      <p:sp>
        <p:nvSpPr>
          <p:cNvPr name="TextBox 3" id="3"/>
          <p:cNvSpPr txBox="true"/>
          <p:nvPr/>
        </p:nvSpPr>
        <p:spPr>
          <a:xfrm rot="0">
            <a:off x="557263" y="723925"/>
            <a:ext cx="11485630"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LOGISTIC REGRESSION MODEL</a:t>
            </a:r>
          </a:p>
        </p:txBody>
      </p:sp>
      <p:sp>
        <p:nvSpPr>
          <p:cNvPr name="TextBox 4" id="4"/>
          <p:cNvSpPr txBox="true"/>
          <p:nvPr/>
        </p:nvSpPr>
        <p:spPr>
          <a:xfrm rot="0">
            <a:off x="9447412" y="3102609"/>
            <a:ext cx="7811888" cy="5002796"/>
          </a:xfrm>
          <a:prstGeom prst="rect">
            <a:avLst/>
          </a:prstGeom>
        </p:spPr>
        <p:txBody>
          <a:bodyPr anchor="t" rtlCol="false" tIns="0" lIns="0" bIns="0" rIns="0">
            <a:spAutoFit/>
          </a:bodyPr>
          <a:lstStyle/>
          <a:p>
            <a:pPr algn="just" marL="582928" indent="-291464" lvl="1">
              <a:lnSpc>
                <a:spcPts val="6749"/>
              </a:lnSpc>
              <a:buFont typeface="Arial"/>
              <a:buChar char="•"/>
            </a:pPr>
            <a:r>
              <a:rPr lang="en-US" sz="2699" spc="-26">
                <a:solidFill>
                  <a:srgbClr val="1F191A"/>
                </a:solidFill>
                <a:latin typeface="Poppins"/>
                <a:ea typeface="Poppins"/>
                <a:cs typeface="Poppins"/>
                <a:sym typeface="Poppins"/>
              </a:rPr>
              <a:t>It p</a:t>
            </a:r>
            <a:r>
              <a:rPr lang="en-US" sz="2699" spc="-26">
                <a:solidFill>
                  <a:srgbClr val="1F191A"/>
                </a:solidFill>
                <a:latin typeface="Poppins"/>
                <a:ea typeface="Poppins"/>
                <a:cs typeface="Poppins"/>
                <a:sym typeface="Poppins"/>
              </a:rPr>
              <a:t>redicts the probability that a patient belongs to a specific diabetes class based on the input features and uses the sigmoid (logistic) function to convert the prediction into a probability between 0 and 1. It is simple, fast, and easy to interpret.</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264173" y="2386055"/>
            <a:ext cx="7589694" cy="6797856"/>
          </a:xfrm>
          <a:custGeom>
            <a:avLst/>
            <a:gdLst/>
            <a:ahLst/>
            <a:cxnLst/>
            <a:rect r="r" b="b" t="t" l="l"/>
            <a:pathLst>
              <a:path h="6797856" w="7589694">
                <a:moveTo>
                  <a:pt x="0" y="0"/>
                </a:moveTo>
                <a:lnTo>
                  <a:pt x="7589694" y="0"/>
                </a:lnTo>
                <a:lnTo>
                  <a:pt x="7589694" y="6797856"/>
                </a:lnTo>
                <a:lnTo>
                  <a:pt x="0" y="6797856"/>
                </a:lnTo>
                <a:lnTo>
                  <a:pt x="0" y="0"/>
                </a:lnTo>
                <a:close/>
              </a:path>
            </a:pathLst>
          </a:custGeom>
          <a:blipFill>
            <a:blip r:embed="rId2"/>
            <a:stretch>
              <a:fillRect l="0" t="0" r="0" b="0"/>
            </a:stretch>
          </a:blipFill>
        </p:spPr>
      </p:sp>
      <p:sp>
        <p:nvSpPr>
          <p:cNvPr name="TextBox 3" id="3"/>
          <p:cNvSpPr txBox="true"/>
          <p:nvPr/>
        </p:nvSpPr>
        <p:spPr>
          <a:xfrm rot="0">
            <a:off x="557263" y="723925"/>
            <a:ext cx="11485630"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LOGISTIC REGRESSION MODEL</a:t>
            </a:r>
          </a:p>
        </p:txBody>
      </p:sp>
      <p:sp>
        <p:nvSpPr>
          <p:cNvPr name="TextBox 4" id="4"/>
          <p:cNvSpPr txBox="true"/>
          <p:nvPr/>
        </p:nvSpPr>
        <p:spPr>
          <a:xfrm rot="0">
            <a:off x="9447412" y="3102609"/>
            <a:ext cx="7811888" cy="5002796"/>
          </a:xfrm>
          <a:prstGeom prst="rect">
            <a:avLst/>
          </a:prstGeom>
        </p:spPr>
        <p:txBody>
          <a:bodyPr anchor="t" rtlCol="false" tIns="0" lIns="0" bIns="0" rIns="0">
            <a:spAutoFit/>
          </a:bodyPr>
          <a:lstStyle/>
          <a:p>
            <a:pPr algn="just" marL="582928" indent="-291464" lvl="1">
              <a:lnSpc>
                <a:spcPts val="6749"/>
              </a:lnSpc>
              <a:buFont typeface="Arial"/>
              <a:buChar char="•"/>
            </a:pPr>
            <a:r>
              <a:rPr lang="en-US" sz="2699" spc="-26">
                <a:solidFill>
                  <a:srgbClr val="1F191A"/>
                </a:solidFill>
                <a:latin typeface="Poppins"/>
                <a:ea typeface="Poppins"/>
                <a:cs typeface="Poppins"/>
                <a:sym typeface="Poppins"/>
              </a:rPr>
              <a:t>The Logistic Reg</a:t>
            </a:r>
            <a:r>
              <a:rPr lang="en-US" sz="2699" spc="-26">
                <a:solidFill>
                  <a:srgbClr val="1F191A"/>
                </a:solidFill>
                <a:latin typeface="Poppins"/>
                <a:ea typeface="Poppins"/>
                <a:cs typeface="Poppins"/>
                <a:sym typeface="Poppins"/>
              </a:rPr>
              <a:t>ression model correctly classified most patients, especially the Diabetic (Y) class. However, it had difficulty distinguishing Prediabetic (P) patients from Diabetic (Y) patients, leading to several misclassifications.</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41206" y="2861372"/>
            <a:ext cx="6242138" cy="5775786"/>
          </a:xfrm>
          <a:custGeom>
            <a:avLst/>
            <a:gdLst/>
            <a:ahLst/>
            <a:cxnLst/>
            <a:rect r="r" b="b" t="t" l="l"/>
            <a:pathLst>
              <a:path h="5775786" w="6242138">
                <a:moveTo>
                  <a:pt x="0" y="0"/>
                </a:moveTo>
                <a:lnTo>
                  <a:pt x="6242138" y="0"/>
                </a:lnTo>
                <a:lnTo>
                  <a:pt x="6242138" y="5775785"/>
                </a:lnTo>
                <a:lnTo>
                  <a:pt x="0" y="5775785"/>
                </a:lnTo>
                <a:lnTo>
                  <a:pt x="0" y="0"/>
                </a:lnTo>
                <a:close/>
              </a:path>
            </a:pathLst>
          </a:custGeom>
          <a:blipFill>
            <a:blip r:embed="rId2"/>
            <a:stretch>
              <a:fillRect l="0" t="0" r="-5385" b="0"/>
            </a:stretch>
          </a:blipFill>
        </p:spPr>
      </p:sp>
      <p:sp>
        <p:nvSpPr>
          <p:cNvPr name="TextBox 3" id="3"/>
          <p:cNvSpPr txBox="true"/>
          <p:nvPr/>
        </p:nvSpPr>
        <p:spPr>
          <a:xfrm rot="0">
            <a:off x="8954385" y="2727666"/>
            <a:ext cx="7966938" cy="5719347"/>
          </a:xfrm>
          <a:prstGeom prst="rect">
            <a:avLst/>
          </a:prstGeom>
        </p:spPr>
        <p:txBody>
          <a:bodyPr anchor="t" rtlCol="false" tIns="0" lIns="0" bIns="0" rIns="0">
            <a:spAutoFit/>
          </a:bodyPr>
          <a:lstStyle/>
          <a:p>
            <a:pPr algn="just" marL="604518" indent="-302259" lvl="1">
              <a:lnSpc>
                <a:spcPts val="6551"/>
              </a:lnSpc>
              <a:buFont typeface="Arial"/>
              <a:buChar char="•"/>
            </a:pPr>
            <a:r>
              <a:rPr lang="en-US" sz="2799" spc="-27">
                <a:solidFill>
                  <a:srgbClr val="1F191A"/>
                </a:solidFill>
                <a:latin typeface="Arial"/>
                <a:ea typeface="Arial"/>
                <a:cs typeface="Arial"/>
                <a:sym typeface="Arial"/>
              </a:rPr>
              <a:t>R</a:t>
            </a:r>
            <a:r>
              <a:rPr lang="en-US" sz="2799" spc="-27">
                <a:solidFill>
                  <a:srgbClr val="1F191A"/>
                </a:solidFill>
                <a:latin typeface="Arial"/>
                <a:ea typeface="Arial"/>
                <a:cs typeface="Arial"/>
                <a:sym typeface="Arial"/>
              </a:rPr>
              <a:t>andom Forest builds multiple decision trees and combines their predictions using majority</a:t>
            </a:r>
            <a:r>
              <a:rPr lang="en-US" sz="2799" spc="-27">
                <a:solidFill>
                  <a:srgbClr val="1F191A"/>
                </a:solidFill>
                <a:latin typeface="Arial"/>
                <a:ea typeface="Arial"/>
                <a:cs typeface="Arial"/>
                <a:sym typeface="Arial"/>
              </a:rPr>
              <a:t> voting to make the final classification.</a:t>
            </a:r>
          </a:p>
          <a:p>
            <a:pPr algn="just" marL="604518" indent="-302259" lvl="1">
              <a:lnSpc>
                <a:spcPts val="6551"/>
              </a:lnSpc>
              <a:buFont typeface="Arial"/>
              <a:buChar char="•"/>
            </a:pPr>
            <a:r>
              <a:rPr lang="en-US" sz="2799" spc="-27">
                <a:solidFill>
                  <a:srgbClr val="1F191A"/>
                </a:solidFill>
                <a:latin typeface="Arial"/>
                <a:ea typeface="Arial"/>
                <a:cs typeface="Arial"/>
                <a:sym typeface="Arial"/>
              </a:rPr>
              <a:t>It is highly accurate, handles complex relationships in the data, is resistant to overfitting, and performs well with medical datasets.</a:t>
            </a:r>
          </a:p>
        </p:txBody>
      </p:sp>
      <p:sp>
        <p:nvSpPr>
          <p:cNvPr name="TextBox 4" id="4"/>
          <p:cNvSpPr txBox="true"/>
          <p:nvPr/>
        </p:nvSpPr>
        <p:spPr>
          <a:xfrm rot="0">
            <a:off x="709663" y="876325"/>
            <a:ext cx="11485630"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RANDOM FOREST MODEL</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1981" y="3313368"/>
            <a:ext cx="8354371" cy="6294546"/>
          </a:xfrm>
          <a:custGeom>
            <a:avLst/>
            <a:gdLst/>
            <a:ahLst/>
            <a:cxnLst/>
            <a:rect r="r" b="b" t="t" l="l"/>
            <a:pathLst>
              <a:path h="6294546" w="8354371">
                <a:moveTo>
                  <a:pt x="0" y="0"/>
                </a:moveTo>
                <a:lnTo>
                  <a:pt x="8354371" y="0"/>
                </a:lnTo>
                <a:lnTo>
                  <a:pt x="8354371" y="6294546"/>
                </a:lnTo>
                <a:lnTo>
                  <a:pt x="0" y="6294546"/>
                </a:lnTo>
                <a:lnTo>
                  <a:pt x="0" y="0"/>
                </a:lnTo>
                <a:close/>
              </a:path>
            </a:pathLst>
          </a:custGeom>
          <a:blipFill>
            <a:blip r:embed="rId2"/>
            <a:stretch>
              <a:fillRect l="0" t="0" r="0" b="0"/>
            </a:stretch>
          </a:blipFill>
        </p:spPr>
      </p:sp>
      <p:sp>
        <p:nvSpPr>
          <p:cNvPr name="TextBox 3" id="3"/>
          <p:cNvSpPr txBox="true"/>
          <p:nvPr/>
        </p:nvSpPr>
        <p:spPr>
          <a:xfrm rot="0">
            <a:off x="9376352" y="3945648"/>
            <a:ext cx="7966938" cy="4061953"/>
          </a:xfrm>
          <a:prstGeom prst="rect">
            <a:avLst/>
          </a:prstGeom>
        </p:spPr>
        <p:txBody>
          <a:bodyPr anchor="t" rtlCol="false" tIns="0" lIns="0" bIns="0" rIns="0">
            <a:spAutoFit/>
          </a:bodyPr>
          <a:lstStyle/>
          <a:p>
            <a:pPr algn="just" marL="604518" indent="-302259" lvl="1">
              <a:lnSpc>
                <a:spcPts val="6551"/>
              </a:lnSpc>
              <a:buFont typeface="Arial"/>
              <a:buChar char="•"/>
            </a:pPr>
            <a:r>
              <a:rPr lang="en-US" sz="2799" spc="-27">
                <a:solidFill>
                  <a:srgbClr val="1F191A"/>
                </a:solidFill>
                <a:latin typeface="Arial"/>
                <a:ea typeface="Arial"/>
                <a:cs typeface="Arial"/>
                <a:sym typeface="Arial"/>
              </a:rPr>
              <a:t>HbA1c was the most important fe</a:t>
            </a:r>
            <a:r>
              <a:rPr lang="en-US" sz="2799" spc="-27">
                <a:solidFill>
                  <a:srgbClr val="1F191A"/>
                </a:solidFill>
                <a:latin typeface="Arial"/>
                <a:ea typeface="Arial"/>
                <a:cs typeface="Arial"/>
                <a:sym typeface="Arial"/>
              </a:rPr>
              <a:t>ature, followed by BMI and Age. Gender had the least influence. This indicates that blood sugar leve</a:t>
            </a:r>
            <a:r>
              <a:rPr lang="en-US" sz="2799" spc="-27">
                <a:solidFill>
                  <a:srgbClr val="1F191A"/>
                </a:solidFill>
                <a:latin typeface="Arial"/>
                <a:ea typeface="Arial"/>
                <a:cs typeface="Arial"/>
                <a:sym typeface="Arial"/>
              </a:rPr>
              <a:t>l (HbA1c), body mass index, and age were the strongest predictors of diabetes in this dataset.</a:t>
            </a:r>
          </a:p>
        </p:txBody>
      </p:sp>
      <p:sp>
        <p:nvSpPr>
          <p:cNvPr name="TextBox 4" id="4"/>
          <p:cNvSpPr txBox="true"/>
          <p:nvPr/>
        </p:nvSpPr>
        <p:spPr>
          <a:xfrm rot="0">
            <a:off x="503498" y="697979"/>
            <a:ext cx="11485630"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RANDOM FOREST MODEL</a:t>
            </a:r>
          </a:p>
        </p:txBody>
      </p:sp>
      <p:sp>
        <p:nvSpPr>
          <p:cNvPr name="TextBox 5" id="5"/>
          <p:cNvSpPr txBox="true"/>
          <p:nvPr/>
        </p:nvSpPr>
        <p:spPr>
          <a:xfrm rot="0">
            <a:off x="1049345" y="2047140"/>
            <a:ext cx="10393936" cy="559458"/>
          </a:xfrm>
          <a:prstGeom prst="rect">
            <a:avLst/>
          </a:prstGeom>
        </p:spPr>
        <p:txBody>
          <a:bodyPr anchor="t" rtlCol="false" tIns="0" lIns="0" bIns="0" rIns="0">
            <a:spAutoFit/>
          </a:bodyPr>
          <a:lstStyle/>
          <a:p>
            <a:pPr algn="l" marL="669286" indent="-334643" lvl="1">
              <a:lnSpc>
                <a:spcPts val="4339"/>
              </a:lnSpc>
              <a:buAutoNum type="arabicPeriod" startAt="1"/>
            </a:pPr>
            <a:r>
              <a:rPr lang="en-US" sz="3099" spc="-30">
                <a:solidFill>
                  <a:srgbClr val="1F191A"/>
                </a:solidFill>
                <a:latin typeface="Poppins"/>
                <a:ea typeface="Poppins"/>
                <a:cs typeface="Poppins"/>
                <a:sym typeface="Poppins"/>
              </a:rPr>
              <a:t>Which features are most strongly tied to diabetes?</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97624" y="3395348"/>
            <a:ext cx="6891055" cy="6172107"/>
          </a:xfrm>
          <a:custGeom>
            <a:avLst/>
            <a:gdLst/>
            <a:ahLst/>
            <a:cxnLst/>
            <a:rect r="r" b="b" t="t" l="l"/>
            <a:pathLst>
              <a:path h="6172107" w="6891055">
                <a:moveTo>
                  <a:pt x="0" y="0"/>
                </a:moveTo>
                <a:lnTo>
                  <a:pt x="6891055" y="0"/>
                </a:lnTo>
                <a:lnTo>
                  <a:pt x="6891055" y="6172107"/>
                </a:lnTo>
                <a:lnTo>
                  <a:pt x="0" y="6172107"/>
                </a:lnTo>
                <a:lnTo>
                  <a:pt x="0" y="0"/>
                </a:lnTo>
                <a:close/>
              </a:path>
            </a:pathLst>
          </a:custGeom>
          <a:blipFill>
            <a:blip r:embed="rId2"/>
            <a:stretch>
              <a:fillRect l="0" t="0" r="0" b="0"/>
            </a:stretch>
          </a:blipFill>
        </p:spPr>
      </p:sp>
      <p:sp>
        <p:nvSpPr>
          <p:cNvPr name="TextBox 3" id="3"/>
          <p:cNvSpPr txBox="true"/>
          <p:nvPr/>
        </p:nvSpPr>
        <p:spPr>
          <a:xfrm rot="0">
            <a:off x="9144000" y="4109218"/>
            <a:ext cx="7966938" cy="4061953"/>
          </a:xfrm>
          <a:prstGeom prst="rect">
            <a:avLst/>
          </a:prstGeom>
        </p:spPr>
        <p:txBody>
          <a:bodyPr anchor="t" rtlCol="false" tIns="0" lIns="0" bIns="0" rIns="0">
            <a:spAutoFit/>
          </a:bodyPr>
          <a:lstStyle/>
          <a:p>
            <a:pPr algn="just" marL="604518" indent="-302259" lvl="1">
              <a:lnSpc>
                <a:spcPts val="6551"/>
              </a:lnSpc>
              <a:buFont typeface="Arial"/>
              <a:buChar char="•"/>
            </a:pPr>
            <a:r>
              <a:rPr lang="en-US" sz="2799" spc="-27">
                <a:solidFill>
                  <a:srgbClr val="1F191A"/>
                </a:solidFill>
                <a:latin typeface="Arial"/>
                <a:ea typeface="Arial"/>
                <a:cs typeface="Arial"/>
                <a:sym typeface="Arial"/>
              </a:rPr>
              <a:t>The R</a:t>
            </a:r>
            <a:r>
              <a:rPr lang="en-US" sz="2799" spc="-27">
                <a:solidFill>
                  <a:srgbClr val="1F191A"/>
                </a:solidFill>
                <a:latin typeface="Arial"/>
                <a:ea typeface="Arial"/>
                <a:cs typeface="Arial"/>
                <a:sym typeface="Arial"/>
              </a:rPr>
              <a:t>andom Forest model achieved nearly perfect classification. It correctly predicted every Non-diabetic and Diabetic p</a:t>
            </a:r>
            <a:r>
              <a:rPr lang="en-US" sz="2799" spc="-27">
                <a:solidFill>
                  <a:srgbClr val="1F191A"/>
                </a:solidFill>
                <a:latin typeface="Arial"/>
                <a:ea typeface="Arial"/>
                <a:cs typeface="Arial"/>
                <a:sym typeface="Arial"/>
              </a:rPr>
              <a:t>atient and made only one error by classifying a Prediabetic patient as Diabetic.</a:t>
            </a:r>
          </a:p>
        </p:txBody>
      </p:sp>
      <p:sp>
        <p:nvSpPr>
          <p:cNvPr name="TextBox 4" id="4"/>
          <p:cNvSpPr txBox="true"/>
          <p:nvPr/>
        </p:nvSpPr>
        <p:spPr>
          <a:xfrm rot="0">
            <a:off x="1013718" y="1907499"/>
            <a:ext cx="8362634" cy="868724"/>
          </a:xfrm>
          <a:prstGeom prst="rect">
            <a:avLst/>
          </a:prstGeom>
        </p:spPr>
        <p:txBody>
          <a:bodyPr anchor="t" rtlCol="false" tIns="0" lIns="0" bIns="0" rIns="0">
            <a:spAutoFit/>
          </a:bodyPr>
          <a:lstStyle/>
          <a:p>
            <a:pPr algn="l" marL="1036320" indent="-518160" lvl="1">
              <a:lnSpc>
                <a:spcPts val="6719"/>
              </a:lnSpc>
              <a:buFont typeface="Arial"/>
              <a:buChar char="•"/>
            </a:pPr>
            <a:r>
              <a:rPr lang="en-US" sz="4800" spc="-48">
                <a:solidFill>
                  <a:srgbClr val="1F191A"/>
                </a:solidFill>
                <a:latin typeface="Poppins"/>
                <a:ea typeface="Poppins"/>
                <a:cs typeface="Poppins"/>
                <a:sym typeface="Poppins"/>
              </a:rPr>
              <a:t>Random Forest</a:t>
            </a:r>
          </a:p>
        </p:txBody>
      </p:sp>
      <p:sp>
        <p:nvSpPr>
          <p:cNvPr name="TextBox 5" id="5"/>
          <p:cNvSpPr txBox="true"/>
          <p:nvPr/>
        </p:nvSpPr>
        <p:spPr>
          <a:xfrm rot="0">
            <a:off x="503498" y="697979"/>
            <a:ext cx="11485630" cy="737642"/>
          </a:xfrm>
          <a:prstGeom prst="rect">
            <a:avLst/>
          </a:prstGeom>
        </p:spPr>
        <p:txBody>
          <a:bodyPr anchor="t" rtlCol="false" tIns="0" lIns="0" bIns="0" rIns="0">
            <a:spAutoFit/>
          </a:bodyPr>
          <a:lstStyle/>
          <a:p>
            <a:pPr algn="l" marL="1166300" indent="-583150" lvl="1">
              <a:lnSpc>
                <a:spcPts val="5023"/>
              </a:lnSpc>
              <a:buAutoNum type="arabicPeriod" startAt="1"/>
            </a:pPr>
            <a:r>
              <a:rPr lang="en-US" b="true" sz="5402" spc="-54">
                <a:solidFill>
                  <a:srgbClr val="1F191A"/>
                </a:solidFill>
                <a:latin typeface="Poppins Bold"/>
                <a:ea typeface="Poppins Bold"/>
                <a:cs typeface="Poppins Bold"/>
                <a:sym typeface="Poppins Bold"/>
              </a:rPr>
              <a:t>RANDOM FOREST MODEL</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828675" y="682319"/>
            <a:ext cx="10661149" cy="737572"/>
          </a:xfrm>
          <a:prstGeom prst="rect">
            <a:avLst/>
          </a:prstGeom>
        </p:spPr>
        <p:txBody>
          <a:bodyPr anchor="t" rtlCol="false" tIns="0" lIns="0" bIns="0" rIns="0">
            <a:spAutoFit/>
          </a:bodyPr>
          <a:lstStyle/>
          <a:p>
            <a:pPr algn="l" marL="1165860" indent="-582930" lvl="1">
              <a:lnSpc>
                <a:spcPts val="5022"/>
              </a:lnSpc>
              <a:buAutoNum type="arabicPeriod" startAt="1"/>
            </a:pPr>
            <a:r>
              <a:rPr lang="en-US" b="true" sz="5400" spc="-54">
                <a:solidFill>
                  <a:srgbClr val="1F191A"/>
                </a:solidFill>
                <a:latin typeface="Poppins Bold"/>
                <a:ea typeface="Poppins Bold"/>
                <a:cs typeface="Poppins Bold"/>
                <a:sym typeface="Poppins Bold"/>
              </a:rPr>
              <a:t>COMPARAT</a:t>
            </a:r>
            <a:r>
              <a:rPr lang="en-US" b="true" sz="5400" spc="-54">
                <a:solidFill>
                  <a:srgbClr val="1F191A"/>
                </a:solidFill>
                <a:latin typeface="Poppins Bold"/>
                <a:ea typeface="Poppins Bold"/>
                <a:cs typeface="Poppins Bold"/>
                <a:sym typeface="Poppins Bold"/>
              </a:rPr>
              <a:t>IVE ANALYSIS</a:t>
            </a:r>
          </a:p>
        </p:txBody>
      </p:sp>
      <p:graphicFrame>
        <p:nvGraphicFramePr>
          <p:cNvPr name="Object 3" id="3"/>
          <p:cNvGraphicFramePr/>
          <p:nvPr/>
        </p:nvGraphicFramePr>
        <p:xfrm>
          <a:off x="1385384" y="3266555"/>
          <a:ext cx="5657850" cy="3771900"/>
        </p:xfrm>
        <a:graphic>
          <a:graphicData uri="http://schemas.openxmlformats.org/presentationml/2006/ole">
            <p:oleObj imgW="6781800" imgH="4902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4" id="4"/>
          <p:cNvSpPr txBox="true"/>
          <p:nvPr/>
        </p:nvSpPr>
        <p:spPr>
          <a:xfrm rot="0">
            <a:off x="1028700" y="1774163"/>
            <a:ext cx="9976176" cy="868724"/>
          </a:xfrm>
          <a:prstGeom prst="rect">
            <a:avLst/>
          </a:prstGeom>
        </p:spPr>
        <p:txBody>
          <a:bodyPr anchor="t" rtlCol="false" tIns="0" lIns="0" bIns="0" rIns="0">
            <a:spAutoFit/>
          </a:bodyPr>
          <a:lstStyle/>
          <a:p>
            <a:pPr algn="l" marL="1036320" indent="-518160" lvl="1">
              <a:lnSpc>
                <a:spcPts val="6719"/>
              </a:lnSpc>
              <a:buFont typeface="Arial"/>
              <a:buChar char="•"/>
            </a:pPr>
            <a:r>
              <a:rPr lang="en-US" sz="4800" spc="-48">
                <a:solidFill>
                  <a:srgbClr val="1F191A"/>
                </a:solidFill>
                <a:latin typeface="Poppins"/>
                <a:ea typeface="Poppins"/>
                <a:cs typeface="Poppins"/>
                <a:sym typeface="Poppins"/>
              </a:rPr>
              <a:t>Confusion Matrix comparison</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2494958" y="-473017"/>
            <a:ext cx="3086100" cy="11233035"/>
            <a:chOff x="0" y="0"/>
            <a:chExt cx="812800" cy="2958495"/>
          </a:xfrm>
        </p:grpSpPr>
        <p:sp>
          <p:nvSpPr>
            <p:cNvPr name="Freeform 3" id="3"/>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4" id="4"/>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graphicFrame>
        <p:nvGraphicFramePr>
          <p:cNvPr name="Object 5" id="5"/>
          <p:cNvGraphicFramePr/>
          <p:nvPr/>
        </p:nvGraphicFramePr>
        <p:xfrm>
          <a:off x="1753460" y="2359670"/>
          <a:ext cx="5657850" cy="3143250"/>
        </p:xfrm>
        <a:graphic>
          <a:graphicData uri="http://schemas.openxmlformats.org/presentationml/2006/ole">
            <p:oleObj imgW="6781800" imgH="4267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1441059" y="682319"/>
            <a:ext cx="10661149" cy="737572"/>
          </a:xfrm>
          <a:prstGeom prst="rect">
            <a:avLst/>
          </a:prstGeom>
        </p:spPr>
        <p:txBody>
          <a:bodyPr anchor="t" rtlCol="false" tIns="0" lIns="0" bIns="0" rIns="0">
            <a:spAutoFit/>
          </a:bodyPr>
          <a:lstStyle/>
          <a:p>
            <a:pPr algn="l" marL="1165860" indent="-582930" lvl="1">
              <a:lnSpc>
                <a:spcPts val="5022"/>
              </a:lnSpc>
              <a:buAutoNum type="arabicPeriod" startAt="1"/>
            </a:pPr>
            <a:r>
              <a:rPr lang="en-US" b="true" sz="5400" spc="-54">
                <a:solidFill>
                  <a:srgbClr val="1F191A"/>
                </a:solidFill>
                <a:latin typeface="Poppins Bold"/>
                <a:ea typeface="Poppins Bold"/>
                <a:cs typeface="Poppins Bold"/>
                <a:sym typeface="Poppins Bold"/>
              </a:rPr>
              <a:t>COMPARAT</a:t>
            </a:r>
            <a:r>
              <a:rPr lang="en-US" b="true" sz="5400" spc="-54">
                <a:solidFill>
                  <a:srgbClr val="1F191A"/>
                </a:solidFill>
                <a:latin typeface="Poppins Bold"/>
                <a:ea typeface="Poppins Bold"/>
                <a:cs typeface="Poppins Bold"/>
                <a:sym typeface="Poppins Bold"/>
              </a:rPr>
              <a:t>IVE ANALYSIS</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21</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2494958" y="-473017"/>
            <a:ext cx="3086100" cy="11233035"/>
            <a:chOff x="0" y="0"/>
            <a:chExt cx="812800" cy="2958495"/>
          </a:xfrm>
        </p:grpSpPr>
        <p:sp>
          <p:nvSpPr>
            <p:cNvPr name="Freeform 3" id="3"/>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4" id="4"/>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sp>
        <p:nvSpPr>
          <p:cNvPr name="TextBox 5" id="5"/>
          <p:cNvSpPr txBox="true"/>
          <p:nvPr/>
        </p:nvSpPr>
        <p:spPr>
          <a:xfrm rot="0">
            <a:off x="591142" y="698014"/>
            <a:ext cx="13059052" cy="737572"/>
          </a:xfrm>
          <a:prstGeom prst="rect">
            <a:avLst/>
          </a:prstGeom>
        </p:spPr>
        <p:txBody>
          <a:bodyPr anchor="t" rtlCol="false" tIns="0" lIns="0" bIns="0" rIns="0">
            <a:spAutoFit/>
          </a:bodyPr>
          <a:lstStyle/>
          <a:p>
            <a:pPr algn="l" marL="1165860" indent="-582930" lvl="1">
              <a:lnSpc>
                <a:spcPts val="5022"/>
              </a:lnSpc>
              <a:buAutoNum type="arabicPeriod" startAt="1"/>
            </a:pPr>
            <a:r>
              <a:rPr lang="en-US" b="true" sz="5400" spc="-54">
                <a:solidFill>
                  <a:srgbClr val="1F191A"/>
                </a:solidFill>
                <a:latin typeface="Poppins Bold"/>
                <a:ea typeface="Poppins Bold"/>
                <a:cs typeface="Poppins Bold"/>
                <a:sym typeface="Poppins Bold"/>
              </a:rPr>
              <a:t>CHALLENGES &amp; LESSONS LEARNED</a:t>
            </a:r>
          </a:p>
        </p:txBody>
      </p:sp>
      <p:sp>
        <p:nvSpPr>
          <p:cNvPr name="TextBox 6" id="6"/>
          <p:cNvSpPr txBox="true"/>
          <p:nvPr/>
        </p:nvSpPr>
        <p:spPr>
          <a:xfrm rot="0">
            <a:off x="1028700" y="1814227"/>
            <a:ext cx="15540950" cy="6572241"/>
          </a:xfrm>
          <a:prstGeom prst="rect">
            <a:avLst/>
          </a:prstGeom>
        </p:spPr>
        <p:txBody>
          <a:bodyPr anchor="t" rtlCol="false" tIns="0" lIns="0" bIns="0" rIns="0">
            <a:spAutoFit/>
          </a:bodyPr>
          <a:lstStyle/>
          <a:p>
            <a:pPr algn="just" marL="647713" indent="-323856" lvl="1">
              <a:lnSpc>
                <a:spcPts val="7500"/>
              </a:lnSpc>
              <a:buFont typeface="Arial"/>
              <a:buChar char="•"/>
            </a:pPr>
            <a:r>
              <a:rPr lang="en-US" sz="3000" spc="-30">
                <a:solidFill>
                  <a:srgbClr val="1F191A"/>
                </a:solidFill>
                <a:latin typeface="Poppins"/>
                <a:ea typeface="Poppins"/>
                <a:cs typeface="Poppins"/>
                <a:sym typeface="Poppins"/>
              </a:rPr>
              <a:t>Dur</a:t>
            </a:r>
            <a:r>
              <a:rPr lang="en-US" sz="3000" spc="-30">
                <a:solidFill>
                  <a:srgbClr val="1F191A"/>
                </a:solidFill>
                <a:latin typeface="Poppins"/>
                <a:ea typeface="Poppins"/>
                <a:cs typeface="Poppins"/>
                <a:sym typeface="Poppins"/>
              </a:rPr>
              <a:t>ing the project, some challenges were encountered. The dataset contained extra spaces in the </a:t>
            </a:r>
            <a:r>
              <a:rPr lang="en-US" b="true" sz="3000" spc="-30">
                <a:solidFill>
                  <a:srgbClr val="1F191A"/>
                </a:solidFill>
                <a:latin typeface="Poppins Bold"/>
                <a:ea typeface="Poppins Bold"/>
                <a:cs typeface="Poppins Bold"/>
                <a:sym typeface="Poppins Bold"/>
              </a:rPr>
              <a:t>CLASS</a:t>
            </a:r>
            <a:r>
              <a:rPr lang="en-US" sz="3000" spc="-30">
                <a:solidFill>
                  <a:srgbClr val="1F191A"/>
                </a:solidFill>
                <a:latin typeface="Poppins"/>
                <a:ea typeface="Poppins"/>
                <a:cs typeface="Poppins"/>
                <a:sym typeface="Poppins"/>
              </a:rPr>
              <a:t> and </a:t>
            </a:r>
            <a:r>
              <a:rPr lang="en-US" b="true" sz="3000" spc="-30">
                <a:solidFill>
                  <a:srgbClr val="1F191A"/>
                </a:solidFill>
                <a:latin typeface="Poppins Bold"/>
                <a:ea typeface="Poppins Bold"/>
                <a:cs typeface="Poppins Bold"/>
                <a:sym typeface="Poppins Bold"/>
              </a:rPr>
              <a:t>Gender</a:t>
            </a:r>
            <a:r>
              <a:rPr lang="en-US" sz="3000" spc="-30">
                <a:solidFill>
                  <a:srgbClr val="1F191A"/>
                </a:solidFill>
                <a:latin typeface="Poppins"/>
                <a:ea typeface="Poppins"/>
                <a:cs typeface="Poppins"/>
                <a:sym typeface="Poppins"/>
              </a:rPr>
              <a:t> columns, which had to be encoded before training the models. It was also important to use different preprocessing steps for each algorithm, such as scaling the data for Logistic Regression but not for </a:t>
            </a:r>
            <a:r>
              <a:rPr lang="en-US" sz="3000" spc="-30">
                <a:solidFill>
                  <a:srgbClr val="1F191A"/>
                </a:solidFill>
                <a:latin typeface="Poppins"/>
                <a:ea typeface="Poppins"/>
                <a:cs typeface="Poppins"/>
                <a:sym typeface="Poppins"/>
              </a:rPr>
              <a:t>Random Forest</a:t>
            </a:r>
            <a:r>
              <a:rPr lang="en-US" sz="3000" spc="-30">
                <a:solidFill>
                  <a:srgbClr val="1F191A"/>
                </a:solidFill>
                <a:latin typeface="Poppins"/>
                <a:ea typeface="Poppins"/>
                <a:cs typeface="Poppins"/>
                <a:sym typeface="Poppins"/>
              </a:rPr>
              <a:t>.</a:t>
            </a:r>
          </a:p>
          <a:p>
            <a:pPr algn="just" marL="647713" indent="-323856" lvl="1">
              <a:lnSpc>
                <a:spcPts val="7500"/>
              </a:lnSpc>
              <a:buFont typeface="Arial"/>
              <a:buChar char="•"/>
            </a:pPr>
            <a:r>
              <a:rPr lang="en-US" sz="3000" spc="-30">
                <a:solidFill>
                  <a:srgbClr val="1F191A"/>
                </a:solidFill>
                <a:latin typeface="Poppins"/>
                <a:ea typeface="Poppins"/>
                <a:cs typeface="Poppins"/>
                <a:sym typeface="Poppins"/>
              </a:rPr>
              <a:t>This project helped improve skills in data preprocessing, exploratory data analysis, model training, hyperparameter tuning, and model evaluation.</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22</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2494958" y="-473017"/>
            <a:ext cx="3086100" cy="11233035"/>
            <a:chOff x="0" y="0"/>
            <a:chExt cx="812800" cy="2958495"/>
          </a:xfrm>
        </p:grpSpPr>
        <p:sp>
          <p:nvSpPr>
            <p:cNvPr name="Freeform 3" id="3"/>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4" id="4"/>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sp>
        <p:nvSpPr>
          <p:cNvPr name="TextBox 5" id="5"/>
          <p:cNvSpPr txBox="true"/>
          <p:nvPr/>
        </p:nvSpPr>
        <p:spPr>
          <a:xfrm rot="0">
            <a:off x="1441059" y="682319"/>
            <a:ext cx="10661149" cy="737572"/>
          </a:xfrm>
          <a:prstGeom prst="rect">
            <a:avLst/>
          </a:prstGeom>
        </p:spPr>
        <p:txBody>
          <a:bodyPr anchor="t" rtlCol="false" tIns="0" lIns="0" bIns="0" rIns="0">
            <a:spAutoFit/>
          </a:bodyPr>
          <a:lstStyle/>
          <a:p>
            <a:pPr algn="l" marL="1165860" indent="-582930" lvl="1">
              <a:lnSpc>
                <a:spcPts val="5022"/>
              </a:lnSpc>
              <a:buAutoNum type="arabicPeriod" startAt="1"/>
            </a:pPr>
            <a:r>
              <a:rPr lang="en-US" b="true" sz="5400" spc="-54">
                <a:solidFill>
                  <a:srgbClr val="1F191A"/>
                </a:solidFill>
                <a:latin typeface="Poppins Bold"/>
                <a:ea typeface="Poppins Bold"/>
                <a:cs typeface="Poppins Bold"/>
                <a:sym typeface="Poppins Bold"/>
              </a:rPr>
              <a:t>CONCLUSION</a:t>
            </a:r>
          </a:p>
        </p:txBody>
      </p:sp>
      <p:sp>
        <p:nvSpPr>
          <p:cNvPr name="TextBox 6" id="6"/>
          <p:cNvSpPr txBox="true"/>
          <p:nvPr/>
        </p:nvSpPr>
        <p:spPr>
          <a:xfrm rot="0">
            <a:off x="1718350" y="1999143"/>
            <a:ext cx="15540950" cy="5619740"/>
          </a:xfrm>
          <a:prstGeom prst="rect">
            <a:avLst/>
          </a:prstGeom>
        </p:spPr>
        <p:txBody>
          <a:bodyPr anchor="t" rtlCol="false" tIns="0" lIns="0" bIns="0" rIns="0">
            <a:spAutoFit/>
          </a:bodyPr>
          <a:lstStyle/>
          <a:p>
            <a:pPr algn="just" marL="647713" indent="-323856" lvl="1">
              <a:lnSpc>
                <a:spcPts val="7500"/>
              </a:lnSpc>
              <a:buFont typeface="Arial"/>
              <a:buChar char="•"/>
            </a:pPr>
            <a:r>
              <a:rPr lang="en-US" sz="3000" spc="-30">
                <a:solidFill>
                  <a:srgbClr val="1F191A"/>
                </a:solidFill>
                <a:latin typeface="Poppins"/>
                <a:ea typeface="Poppins"/>
                <a:cs typeface="Poppins"/>
                <a:sym typeface="Poppins"/>
              </a:rPr>
              <a:t>Both models performed well, but Random Forest achieved the best results, with an accuracy of </a:t>
            </a:r>
            <a:r>
              <a:rPr lang="en-US" b="true" sz="3000" spc="-30">
                <a:solidFill>
                  <a:srgbClr val="1F191A"/>
                </a:solidFill>
                <a:latin typeface="Poppins Bold"/>
                <a:ea typeface="Poppins Bold"/>
                <a:cs typeface="Poppins Bold"/>
                <a:sym typeface="Poppins Bold"/>
              </a:rPr>
              <a:t>99.50%</a:t>
            </a:r>
            <a:r>
              <a:rPr lang="en-US" sz="3000" spc="-30">
                <a:solidFill>
                  <a:srgbClr val="1F191A"/>
                </a:solidFill>
                <a:latin typeface="Poppins"/>
                <a:ea typeface="Poppins"/>
                <a:cs typeface="Poppins"/>
                <a:sym typeface="Poppins"/>
              </a:rPr>
              <a:t>, compared to </a:t>
            </a:r>
            <a:r>
              <a:rPr lang="en-US" b="true" sz="3000" spc="-30">
                <a:solidFill>
                  <a:srgbClr val="1F191A"/>
                </a:solidFill>
                <a:latin typeface="Poppins Bold"/>
                <a:ea typeface="Poppins Bold"/>
                <a:cs typeface="Poppins Bold"/>
                <a:sym typeface="Poppins Bold"/>
              </a:rPr>
              <a:t>94.50%</a:t>
            </a:r>
            <a:r>
              <a:rPr lang="en-US" sz="3000" spc="-30">
                <a:solidFill>
                  <a:srgbClr val="1F191A"/>
                </a:solidFill>
                <a:latin typeface="Poppins"/>
                <a:ea typeface="Poppins"/>
                <a:cs typeface="Poppins"/>
                <a:sym typeface="Poppins"/>
              </a:rPr>
              <a:t> for Logistic Regression.</a:t>
            </a:r>
          </a:p>
          <a:p>
            <a:pPr algn="just" marL="647713" indent="-323856" lvl="1">
              <a:lnSpc>
                <a:spcPts val="7500"/>
              </a:lnSpc>
              <a:buFont typeface="Arial"/>
              <a:buChar char="•"/>
            </a:pPr>
            <a:r>
              <a:rPr lang="en-US" sz="3000" spc="-30">
                <a:solidFill>
                  <a:srgbClr val="1F191A"/>
                </a:solidFill>
                <a:latin typeface="Poppins"/>
                <a:ea typeface="Poppins"/>
                <a:cs typeface="Poppins"/>
                <a:sym typeface="Poppins"/>
              </a:rPr>
              <a:t>Based on the results, </a:t>
            </a:r>
            <a:r>
              <a:rPr lang="en-US" b="true" sz="3000" spc="-30">
                <a:solidFill>
                  <a:srgbClr val="1F191A"/>
                </a:solidFill>
                <a:latin typeface="Poppins Bold"/>
                <a:ea typeface="Poppins Bold"/>
                <a:cs typeface="Poppins Bold"/>
                <a:sym typeface="Poppins Bold"/>
              </a:rPr>
              <a:t>Random Forest</a:t>
            </a:r>
            <a:r>
              <a:rPr lang="en-US" sz="3000" spc="-30">
                <a:solidFill>
                  <a:srgbClr val="1F191A"/>
                </a:solidFill>
                <a:latin typeface="Poppins"/>
                <a:ea typeface="Poppins"/>
                <a:cs typeface="Poppins"/>
                <a:sym typeface="Poppins"/>
              </a:rPr>
              <a:t> is the recommended model for this diabetes prediction task because it provides higher accuracy and better overall performance. The project also demonstrates how machine learning can be used to support early diabetes prediction using patient health data.</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9289994" y="4040337"/>
            <a:ext cx="7912403" cy="2445249"/>
          </a:xfrm>
          <a:prstGeom prst="rect">
            <a:avLst/>
          </a:prstGeom>
        </p:spPr>
        <p:txBody>
          <a:bodyPr anchor="t" rtlCol="false" tIns="0" lIns="0" bIns="0" rIns="0">
            <a:spAutoFit/>
          </a:bodyPr>
          <a:lstStyle/>
          <a:p>
            <a:pPr algn="l">
              <a:lnSpc>
                <a:spcPts val="8985"/>
              </a:lnSpc>
            </a:pPr>
            <a:r>
              <a:rPr lang="en-US" b="true" sz="9662" spc="-96">
                <a:solidFill>
                  <a:srgbClr val="1F191A"/>
                </a:solidFill>
                <a:latin typeface="Poppins Bold"/>
                <a:ea typeface="Poppins Bold"/>
                <a:cs typeface="Poppins Bold"/>
                <a:sym typeface="Poppins Bold"/>
              </a:rPr>
              <a:t>THANK YOU</a:t>
            </a:r>
          </a:p>
          <a:p>
            <a:pPr algn="l">
              <a:lnSpc>
                <a:spcPts val="8985"/>
              </a:lnSpc>
            </a:pPr>
            <a:r>
              <a:rPr lang="en-US" b="true" sz="9662" spc="-96">
                <a:solidFill>
                  <a:srgbClr val="1F191A"/>
                </a:solidFill>
                <a:latin typeface="Poppins Bold"/>
                <a:ea typeface="Poppins Bold"/>
                <a:cs typeface="Poppins Bold"/>
                <a:sym typeface="Poppins Bold"/>
              </a:rPr>
              <a:t>VERY MUCH</a:t>
            </a:r>
          </a:p>
        </p:txBody>
      </p:sp>
      <p:sp>
        <p:nvSpPr>
          <p:cNvPr name="Freeform 3" id="3"/>
          <p:cNvSpPr/>
          <p:nvPr/>
        </p:nvSpPr>
        <p:spPr>
          <a:xfrm flipH="false" flipV="false" rot="0">
            <a:off x="1453420" y="1569625"/>
            <a:ext cx="6579955" cy="6726720"/>
          </a:xfrm>
          <a:custGeom>
            <a:avLst/>
            <a:gdLst/>
            <a:ahLst/>
            <a:cxnLst/>
            <a:rect r="r" b="b" t="t" l="l"/>
            <a:pathLst>
              <a:path h="6726720" w="6579955">
                <a:moveTo>
                  <a:pt x="0" y="0"/>
                </a:moveTo>
                <a:lnTo>
                  <a:pt x="6579955" y="0"/>
                </a:lnTo>
                <a:lnTo>
                  <a:pt x="6579955" y="6726720"/>
                </a:lnTo>
                <a:lnTo>
                  <a:pt x="0" y="67267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706115" y="-473017"/>
            <a:ext cx="3086100" cy="11233035"/>
            <a:chOff x="0" y="0"/>
            <a:chExt cx="812800" cy="2958495"/>
          </a:xfrm>
        </p:grpSpPr>
        <p:sp>
          <p:nvSpPr>
            <p:cNvPr name="Freeform 5" id="5"/>
            <p:cNvSpPr/>
            <p:nvPr/>
          </p:nvSpPr>
          <p:spPr>
            <a:xfrm flipH="false" flipV="false" rot="0">
              <a:off x="0" y="0"/>
              <a:ext cx="812800" cy="2958495"/>
            </a:xfrm>
            <a:custGeom>
              <a:avLst/>
              <a:gdLst/>
              <a:ahLst/>
              <a:cxnLst/>
              <a:rect r="r" b="b" t="t" l="l"/>
              <a:pathLst>
                <a:path h="2958495" w="812800">
                  <a:moveTo>
                    <a:pt x="0" y="0"/>
                  </a:moveTo>
                  <a:lnTo>
                    <a:pt x="812800" y="0"/>
                  </a:lnTo>
                  <a:lnTo>
                    <a:pt x="812800" y="2958495"/>
                  </a:lnTo>
                  <a:lnTo>
                    <a:pt x="0" y="2958495"/>
                  </a:lnTo>
                  <a:close/>
                </a:path>
              </a:pathLst>
            </a:custGeom>
            <a:solidFill>
              <a:srgbClr val="428DFF"/>
            </a:solidFill>
          </p:spPr>
        </p:sp>
        <p:sp>
          <p:nvSpPr>
            <p:cNvPr name="TextBox 6" id="6"/>
            <p:cNvSpPr txBox="true"/>
            <p:nvPr/>
          </p:nvSpPr>
          <p:spPr>
            <a:xfrm>
              <a:off x="0" y="19050"/>
              <a:ext cx="812800" cy="2939445"/>
            </a:xfrm>
            <a:prstGeom prst="rect">
              <a:avLst/>
            </a:prstGeom>
          </p:spPr>
          <p:txBody>
            <a:bodyPr anchor="ctr" rtlCol="false" tIns="50800" lIns="50800" bIns="50800" rIns="50800"/>
            <a:lstStyle/>
            <a:p>
              <a:pPr algn="ctr">
                <a:lnSpc>
                  <a:spcPts val="1543"/>
                </a:lnSpc>
              </a:pPr>
            </a:p>
          </p:txBody>
        </p:sp>
      </p:gr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F191A"/>
                </a:solidFill>
                <a:latin typeface="Canva Sans"/>
                <a:ea typeface="Canva Sans"/>
                <a:cs typeface="Canva Sans"/>
                <a:sym typeface="Canva Sans"/>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DAHOJWVEwsg</dc:identifier>
  <dcterms:modified xsi:type="dcterms:W3CDTF">2011-08-01T06:04:30Z</dcterms:modified>
  <cp:revision>1</cp:revision>
  <dc:title>Diabetes Prediction Slide</dc:title>
</cp:coreProperties>
</file>